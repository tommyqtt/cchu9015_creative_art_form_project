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0" r:id="rId3"/>
    <p:sldId id="257"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zh-M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4881FC-A1FB-3399-FD7B-52B1D5F47327}"/>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zh-MO" altLang="en-US"/>
          </a:p>
        </p:txBody>
      </p:sp>
      <p:sp>
        <p:nvSpPr>
          <p:cNvPr id="3" name="副標題 2">
            <a:extLst>
              <a:ext uri="{FF2B5EF4-FFF2-40B4-BE49-F238E27FC236}">
                <a16:creationId xmlns:a16="http://schemas.microsoft.com/office/drawing/2014/main" id="{EDCDF566-153B-9645-A9AF-D334166661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zh-MO" altLang="en-US"/>
          </a:p>
        </p:txBody>
      </p:sp>
      <p:sp>
        <p:nvSpPr>
          <p:cNvPr id="4" name="日期版面配置區 3">
            <a:extLst>
              <a:ext uri="{FF2B5EF4-FFF2-40B4-BE49-F238E27FC236}">
                <a16:creationId xmlns:a16="http://schemas.microsoft.com/office/drawing/2014/main" id="{78A661EA-5383-E3C8-BC15-0CE9499140CB}"/>
              </a:ext>
            </a:extLst>
          </p:cNvPr>
          <p:cNvSpPr>
            <a:spLocks noGrp="1"/>
          </p:cNvSpPr>
          <p:nvPr>
            <p:ph type="dt" sz="half" idx="10"/>
          </p:nvPr>
        </p:nvSpPr>
        <p:spPr/>
        <p:txBody>
          <a:bodyPr/>
          <a:lstStyle/>
          <a:p>
            <a:fld id="{B5AC2B05-B9F3-419D-92D7-532EE5E64CB6}" type="datetimeFigureOut">
              <a:rPr lang="zh-MO" altLang="en-US" smtClean="0"/>
              <a:t>22/4/2026</a:t>
            </a:fld>
            <a:endParaRPr lang="zh-MO" altLang="en-US"/>
          </a:p>
        </p:txBody>
      </p:sp>
      <p:sp>
        <p:nvSpPr>
          <p:cNvPr id="5" name="頁尾版面配置區 4">
            <a:extLst>
              <a:ext uri="{FF2B5EF4-FFF2-40B4-BE49-F238E27FC236}">
                <a16:creationId xmlns:a16="http://schemas.microsoft.com/office/drawing/2014/main" id="{F156259D-B10E-6EDB-CE74-C70D69AB0E63}"/>
              </a:ext>
            </a:extLst>
          </p:cNvPr>
          <p:cNvSpPr>
            <a:spLocks noGrp="1"/>
          </p:cNvSpPr>
          <p:nvPr>
            <p:ph type="ftr" sz="quarter" idx="11"/>
          </p:nvPr>
        </p:nvSpPr>
        <p:spPr/>
        <p:txBody>
          <a:bodyPr/>
          <a:lstStyle/>
          <a:p>
            <a:endParaRPr lang="zh-MO" altLang="en-US"/>
          </a:p>
        </p:txBody>
      </p:sp>
      <p:sp>
        <p:nvSpPr>
          <p:cNvPr id="6" name="投影片編號版面配置區 5">
            <a:extLst>
              <a:ext uri="{FF2B5EF4-FFF2-40B4-BE49-F238E27FC236}">
                <a16:creationId xmlns:a16="http://schemas.microsoft.com/office/drawing/2014/main" id="{2FA6785D-1567-9EB9-D967-A1C29E14B09F}"/>
              </a:ext>
            </a:extLst>
          </p:cNvPr>
          <p:cNvSpPr>
            <a:spLocks noGrp="1"/>
          </p:cNvSpPr>
          <p:nvPr>
            <p:ph type="sldNum" sz="quarter" idx="12"/>
          </p:nvPr>
        </p:nvSpPr>
        <p:spPr/>
        <p:txBody>
          <a:bodyPr/>
          <a:lstStyle/>
          <a:p>
            <a:fld id="{01EC4640-AF0B-48E4-B1FB-E27D18CAC09F}" type="slidenum">
              <a:rPr lang="zh-MO" altLang="en-US" smtClean="0"/>
              <a:t>‹#›</a:t>
            </a:fld>
            <a:endParaRPr lang="zh-MO" altLang="en-US"/>
          </a:p>
        </p:txBody>
      </p:sp>
    </p:spTree>
    <p:extLst>
      <p:ext uri="{BB962C8B-B14F-4D97-AF65-F5344CB8AC3E}">
        <p14:creationId xmlns:p14="http://schemas.microsoft.com/office/powerpoint/2010/main" val="2150998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62012F-BB31-EE3C-F22D-023CD8AAE7E9}"/>
              </a:ext>
            </a:extLst>
          </p:cNvPr>
          <p:cNvSpPr>
            <a:spLocks noGrp="1"/>
          </p:cNvSpPr>
          <p:nvPr>
            <p:ph type="title"/>
          </p:nvPr>
        </p:nvSpPr>
        <p:spPr/>
        <p:txBody>
          <a:bodyPr/>
          <a:lstStyle/>
          <a:p>
            <a:r>
              <a:rPr lang="zh-TW" altLang="en-US"/>
              <a:t>按一下以編輯母片標題樣式</a:t>
            </a:r>
            <a:endParaRPr lang="zh-MO" altLang="en-US"/>
          </a:p>
        </p:txBody>
      </p:sp>
      <p:sp>
        <p:nvSpPr>
          <p:cNvPr id="3" name="內容版面配置區 2">
            <a:extLst>
              <a:ext uri="{FF2B5EF4-FFF2-40B4-BE49-F238E27FC236}">
                <a16:creationId xmlns:a16="http://schemas.microsoft.com/office/drawing/2014/main" id="{27A6740E-49E8-F0F1-403E-FD9B0F37A7A3}"/>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MO" altLang="en-US"/>
          </a:p>
        </p:txBody>
      </p:sp>
      <p:sp>
        <p:nvSpPr>
          <p:cNvPr id="4" name="日期版面配置區 3">
            <a:extLst>
              <a:ext uri="{FF2B5EF4-FFF2-40B4-BE49-F238E27FC236}">
                <a16:creationId xmlns:a16="http://schemas.microsoft.com/office/drawing/2014/main" id="{091DE134-B58E-9455-1EEF-104B457D786D}"/>
              </a:ext>
            </a:extLst>
          </p:cNvPr>
          <p:cNvSpPr>
            <a:spLocks noGrp="1"/>
          </p:cNvSpPr>
          <p:nvPr>
            <p:ph type="dt" sz="half" idx="10"/>
          </p:nvPr>
        </p:nvSpPr>
        <p:spPr/>
        <p:txBody>
          <a:bodyPr/>
          <a:lstStyle/>
          <a:p>
            <a:fld id="{B5AC2B05-B9F3-419D-92D7-532EE5E64CB6}" type="datetimeFigureOut">
              <a:rPr lang="zh-MO" altLang="en-US" smtClean="0"/>
              <a:t>22/4/2026</a:t>
            </a:fld>
            <a:endParaRPr lang="zh-MO" altLang="en-US"/>
          </a:p>
        </p:txBody>
      </p:sp>
      <p:sp>
        <p:nvSpPr>
          <p:cNvPr id="5" name="頁尾版面配置區 4">
            <a:extLst>
              <a:ext uri="{FF2B5EF4-FFF2-40B4-BE49-F238E27FC236}">
                <a16:creationId xmlns:a16="http://schemas.microsoft.com/office/drawing/2014/main" id="{7BDCF370-3FF9-92AB-0127-713757369762}"/>
              </a:ext>
            </a:extLst>
          </p:cNvPr>
          <p:cNvSpPr>
            <a:spLocks noGrp="1"/>
          </p:cNvSpPr>
          <p:nvPr>
            <p:ph type="ftr" sz="quarter" idx="11"/>
          </p:nvPr>
        </p:nvSpPr>
        <p:spPr/>
        <p:txBody>
          <a:bodyPr/>
          <a:lstStyle/>
          <a:p>
            <a:endParaRPr lang="zh-MO" altLang="en-US"/>
          </a:p>
        </p:txBody>
      </p:sp>
      <p:sp>
        <p:nvSpPr>
          <p:cNvPr id="6" name="投影片編號版面配置區 5">
            <a:extLst>
              <a:ext uri="{FF2B5EF4-FFF2-40B4-BE49-F238E27FC236}">
                <a16:creationId xmlns:a16="http://schemas.microsoft.com/office/drawing/2014/main" id="{4AC81E41-0EA3-DF8F-49E0-B8100C3FB3FB}"/>
              </a:ext>
            </a:extLst>
          </p:cNvPr>
          <p:cNvSpPr>
            <a:spLocks noGrp="1"/>
          </p:cNvSpPr>
          <p:nvPr>
            <p:ph type="sldNum" sz="quarter" idx="12"/>
          </p:nvPr>
        </p:nvSpPr>
        <p:spPr/>
        <p:txBody>
          <a:bodyPr/>
          <a:lstStyle/>
          <a:p>
            <a:fld id="{01EC4640-AF0B-48E4-B1FB-E27D18CAC09F}" type="slidenum">
              <a:rPr lang="zh-MO" altLang="en-US" smtClean="0"/>
              <a:t>‹#›</a:t>
            </a:fld>
            <a:endParaRPr lang="zh-MO" altLang="en-US"/>
          </a:p>
        </p:txBody>
      </p:sp>
    </p:spTree>
    <p:extLst>
      <p:ext uri="{BB962C8B-B14F-4D97-AF65-F5344CB8AC3E}">
        <p14:creationId xmlns:p14="http://schemas.microsoft.com/office/powerpoint/2010/main" val="3608436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410132B-2232-32DF-D940-DB92173B816D}"/>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endParaRPr lang="zh-MO" altLang="en-US"/>
          </a:p>
        </p:txBody>
      </p:sp>
      <p:sp>
        <p:nvSpPr>
          <p:cNvPr id="3" name="文字版面配置區 2">
            <a:extLst>
              <a:ext uri="{FF2B5EF4-FFF2-40B4-BE49-F238E27FC236}">
                <a16:creationId xmlns:a16="http://schemas.microsoft.com/office/drawing/2014/main" id="{CE3DB3A7-49A4-5D21-072D-8BD9304548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5689647A-53EE-7E63-48AD-A4E7E2A05512}"/>
              </a:ext>
            </a:extLst>
          </p:cNvPr>
          <p:cNvSpPr>
            <a:spLocks noGrp="1"/>
          </p:cNvSpPr>
          <p:nvPr>
            <p:ph type="dt" sz="half" idx="10"/>
          </p:nvPr>
        </p:nvSpPr>
        <p:spPr/>
        <p:txBody>
          <a:bodyPr/>
          <a:lstStyle/>
          <a:p>
            <a:fld id="{B5AC2B05-B9F3-419D-92D7-532EE5E64CB6}" type="datetimeFigureOut">
              <a:rPr lang="zh-MO" altLang="en-US" smtClean="0"/>
              <a:t>22/4/2026</a:t>
            </a:fld>
            <a:endParaRPr lang="zh-MO" altLang="en-US"/>
          </a:p>
        </p:txBody>
      </p:sp>
      <p:sp>
        <p:nvSpPr>
          <p:cNvPr id="5" name="頁尾版面配置區 4">
            <a:extLst>
              <a:ext uri="{FF2B5EF4-FFF2-40B4-BE49-F238E27FC236}">
                <a16:creationId xmlns:a16="http://schemas.microsoft.com/office/drawing/2014/main" id="{E34C5405-7788-6856-8689-F4295BD9BD22}"/>
              </a:ext>
            </a:extLst>
          </p:cNvPr>
          <p:cNvSpPr>
            <a:spLocks noGrp="1"/>
          </p:cNvSpPr>
          <p:nvPr>
            <p:ph type="ftr" sz="quarter" idx="11"/>
          </p:nvPr>
        </p:nvSpPr>
        <p:spPr/>
        <p:txBody>
          <a:bodyPr/>
          <a:lstStyle/>
          <a:p>
            <a:endParaRPr lang="zh-MO" altLang="en-US"/>
          </a:p>
        </p:txBody>
      </p:sp>
      <p:sp>
        <p:nvSpPr>
          <p:cNvPr id="6" name="投影片編號版面配置區 5">
            <a:extLst>
              <a:ext uri="{FF2B5EF4-FFF2-40B4-BE49-F238E27FC236}">
                <a16:creationId xmlns:a16="http://schemas.microsoft.com/office/drawing/2014/main" id="{1CA6D5A5-EE29-DB64-D2C7-334971136FEB}"/>
              </a:ext>
            </a:extLst>
          </p:cNvPr>
          <p:cNvSpPr>
            <a:spLocks noGrp="1"/>
          </p:cNvSpPr>
          <p:nvPr>
            <p:ph type="sldNum" sz="quarter" idx="12"/>
          </p:nvPr>
        </p:nvSpPr>
        <p:spPr/>
        <p:txBody>
          <a:bodyPr/>
          <a:lstStyle/>
          <a:p>
            <a:fld id="{01EC4640-AF0B-48E4-B1FB-E27D18CAC09F}" type="slidenum">
              <a:rPr lang="zh-MO" altLang="en-US" smtClean="0"/>
              <a:t>‹#›</a:t>
            </a:fld>
            <a:endParaRPr lang="zh-MO" altLang="en-US"/>
          </a:p>
        </p:txBody>
      </p:sp>
    </p:spTree>
    <p:extLst>
      <p:ext uri="{BB962C8B-B14F-4D97-AF65-F5344CB8AC3E}">
        <p14:creationId xmlns:p14="http://schemas.microsoft.com/office/powerpoint/2010/main" val="3103145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171B6D-0DF7-2921-7ACF-CD74A17B6BC1}"/>
              </a:ext>
            </a:extLst>
          </p:cNvPr>
          <p:cNvSpPr>
            <a:spLocks noGrp="1"/>
          </p:cNvSpPr>
          <p:nvPr>
            <p:ph type="title"/>
          </p:nvPr>
        </p:nvSpPr>
        <p:spPr/>
        <p:txBody>
          <a:bodyPr/>
          <a:lstStyle/>
          <a:p>
            <a:r>
              <a:rPr lang="zh-TW" altLang="en-US"/>
              <a:t>按一下以編輯母片標題樣式</a:t>
            </a:r>
            <a:endParaRPr lang="zh-MO" altLang="en-US"/>
          </a:p>
        </p:txBody>
      </p:sp>
      <p:sp>
        <p:nvSpPr>
          <p:cNvPr id="3" name="內容版面配置區 2">
            <a:extLst>
              <a:ext uri="{FF2B5EF4-FFF2-40B4-BE49-F238E27FC236}">
                <a16:creationId xmlns:a16="http://schemas.microsoft.com/office/drawing/2014/main" id="{0687E3AC-5C55-4999-5B96-C9FA44E147C0}"/>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MO" altLang="en-US"/>
          </a:p>
        </p:txBody>
      </p:sp>
      <p:sp>
        <p:nvSpPr>
          <p:cNvPr id="4" name="內容版面配置區 3">
            <a:extLst>
              <a:ext uri="{FF2B5EF4-FFF2-40B4-BE49-F238E27FC236}">
                <a16:creationId xmlns:a16="http://schemas.microsoft.com/office/drawing/2014/main" id="{4665F1A2-4734-6A31-0036-85E4F736E1C2}"/>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MO" altLang="en-US"/>
          </a:p>
        </p:txBody>
      </p:sp>
      <p:sp>
        <p:nvSpPr>
          <p:cNvPr id="5" name="日期版面配置區 4">
            <a:extLst>
              <a:ext uri="{FF2B5EF4-FFF2-40B4-BE49-F238E27FC236}">
                <a16:creationId xmlns:a16="http://schemas.microsoft.com/office/drawing/2014/main" id="{589869D3-71D4-1569-55E3-0CBA9080CC52}"/>
              </a:ext>
            </a:extLst>
          </p:cNvPr>
          <p:cNvSpPr>
            <a:spLocks noGrp="1"/>
          </p:cNvSpPr>
          <p:nvPr>
            <p:ph type="dt" sz="half" idx="10"/>
          </p:nvPr>
        </p:nvSpPr>
        <p:spPr/>
        <p:txBody>
          <a:bodyPr/>
          <a:lstStyle/>
          <a:p>
            <a:fld id="{B5AC2B05-B9F3-419D-92D7-532EE5E64CB6}" type="datetimeFigureOut">
              <a:rPr lang="zh-MO" altLang="en-US" smtClean="0"/>
              <a:t>22/4/2026</a:t>
            </a:fld>
            <a:endParaRPr lang="zh-MO" altLang="en-US"/>
          </a:p>
        </p:txBody>
      </p:sp>
      <p:sp>
        <p:nvSpPr>
          <p:cNvPr id="6" name="頁尾版面配置區 5">
            <a:extLst>
              <a:ext uri="{FF2B5EF4-FFF2-40B4-BE49-F238E27FC236}">
                <a16:creationId xmlns:a16="http://schemas.microsoft.com/office/drawing/2014/main" id="{2669F020-24ED-E19C-171C-7D99CB8253F6}"/>
              </a:ext>
            </a:extLst>
          </p:cNvPr>
          <p:cNvSpPr>
            <a:spLocks noGrp="1"/>
          </p:cNvSpPr>
          <p:nvPr>
            <p:ph type="ftr" sz="quarter" idx="11"/>
          </p:nvPr>
        </p:nvSpPr>
        <p:spPr/>
        <p:txBody>
          <a:bodyPr/>
          <a:lstStyle/>
          <a:p>
            <a:endParaRPr lang="zh-MO" altLang="en-US"/>
          </a:p>
        </p:txBody>
      </p:sp>
      <p:sp>
        <p:nvSpPr>
          <p:cNvPr id="7" name="投影片編號版面配置區 6">
            <a:extLst>
              <a:ext uri="{FF2B5EF4-FFF2-40B4-BE49-F238E27FC236}">
                <a16:creationId xmlns:a16="http://schemas.microsoft.com/office/drawing/2014/main" id="{060BF0D8-C399-0075-3DD8-EB3BF4F153D7}"/>
              </a:ext>
            </a:extLst>
          </p:cNvPr>
          <p:cNvSpPr>
            <a:spLocks noGrp="1"/>
          </p:cNvSpPr>
          <p:nvPr>
            <p:ph type="sldNum" sz="quarter" idx="12"/>
          </p:nvPr>
        </p:nvSpPr>
        <p:spPr/>
        <p:txBody>
          <a:bodyPr/>
          <a:lstStyle/>
          <a:p>
            <a:fld id="{01EC4640-AF0B-48E4-B1FB-E27D18CAC09F}" type="slidenum">
              <a:rPr lang="zh-MO" altLang="en-US" smtClean="0"/>
              <a:t>‹#›</a:t>
            </a:fld>
            <a:endParaRPr lang="zh-MO" altLang="en-US"/>
          </a:p>
        </p:txBody>
      </p:sp>
    </p:spTree>
    <p:extLst>
      <p:ext uri="{BB962C8B-B14F-4D97-AF65-F5344CB8AC3E}">
        <p14:creationId xmlns:p14="http://schemas.microsoft.com/office/powerpoint/2010/main" val="1279362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7973C9-E3CD-00F0-58F4-0CA9D0CD1410}"/>
              </a:ext>
            </a:extLst>
          </p:cNvPr>
          <p:cNvSpPr>
            <a:spLocks noGrp="1"/>
          </p:cNvSpPr>
          <p:nvPr>
            <p:ph type="title"/>
          </p:nvPr>
        </p:nvSpPr>
        <p:spPr>
          <a:xfrm>
            <a:off x="839788" y="365125"/>
            <a:ext cx="10515600" cy="1325563"/>
          </a:xfrm>
        </p:spPr>
        <p:txBody>
          <a:bodyPr/>
          <a:lstStyle/>
          <a:p>
            <a:r>
              <a:rPr lang="zh-TW" altLang="en-US"/>
              <a:t>按一下以編輯母片標題樣式</a:t>
            </a:r>
            <a:endParaRPr lang="zh-MO" altLang="en-US"/>
          </a:p>
        </p:txBody>
      </p:sp>
      <p:sp>
        <p:nvSpPr>
          <p:cNvPr id="3" name="文字版面配置區 2">
            <a:extLst>
              <a:ext uri="{FF2B5EF4-FFF2-40B4-BE49-F238E27FC236}">
                <a16:creationId xmlns:a16="http://schemas.microsoft.com/office/drawing/2014/main" id="{8AF3841E-B410-03C9-DB97-25015D566D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204CC1EA-6B38-85F9-9AAF-B0062AE9C285}"/>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MO" altLang="en-US"/>
          </a:p>
        </p:txBody>
      </p:sp>
      <p:sp>
        <p:nvSpPr>
          <p:cNvPr id="5" name="文字版面配置區 4">
            <a:extLst>
              <a:ext uri="{FF2B5EF4-FFF2-40B4-BE49-F238E27FC236}">
                <a16:creationId xmlns:a16="http://schemas.microsoft.com/office/drawing/2014/main" id="{C0A5F899-512C-F165-39D7-E4C6661558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13CB6185-4802-9A0D-4078-E881C7F9B8A9}"/>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MO" altLang="en-US"/>
          </a:p>
        </p:txBody>
      </p:sp>
      <p:sp>
        <p:nvSpPr>
          <p:cNvPr id="7" name="日期版面配置區 6">
            <a:extLst>
              <a:ext uri="{FF2B5EF4-FFF2-40B4-BE49-F238E27FC236}">
                <a16:creationId xmlns:a16="http://schemas.microsoft.com/office/drawing/2014/main" id="{0561BAEC-6BC8-8C70-56C9-908D86149DDF}"/>
              </a:ext>
            </a:extLst>
          </p:cNvPr>
          <p:cNvSpPr>
            <a:spLocks noGrp="1"/>
          </p:cNvSpPr>
          <p:nvPr>
            <p:ph type="dt" sz="half" idx="10"/>
          </p:nvPr>
        </p:nvSpPr>
        <p:spPr/>
        <p:txBody>
          <a:bodyPr/>
          <a:lstStyle/>
          <a:p>
            <a:fld id="{B5AC2B05-B9F3-419D-92D7-532EE5E64CB6}" type="datetimeFigureOut">
              <a:rPr lang="zh-MO" altLang="en-US" smtClean="0"/>
              <a:t>22/4/2026</a:t>
            </a:fld>
            <a:endParaRPr lang="zh-MO" altLang="en-US"/>
          </a:p>
        </p:txBody>
      </p:sp>
      <p:sp>
        <p:nvSpPr>
          <p:cNvPr id="8" name="頁尾版面配置區 7">
            <a:extLst>
              <a:ext uri="{FF2B5EF4-FFF2-40B4-BE49-F238E27FC236}">
                <a16:creationId xmlns:a16="http://schemas.microsoft.com/office/drawing/2014/main" id="{BCD2F9B9-D372-3BAA-305B-3432BD3965D2}"/>
              </a:ext>
            </a:extLst>
          </p:cNvPr>
          <p:cNvSpPr>
            <a:spLocks noGrp="1"/>
          </p:cNvSpPr>
          <p:nvPr>
            <p:ph type="ftr" sz="quarter" idx="11"/>
          </p:nvPr>
        </p:nvSpPr>
        <p:spPr/>
        <p:txBody>
          <a:bodyPr/>
          <a:lstStyle/>
          <a:p>
            <a:endParaRPr lang="zh-MO" altLang="en-US"/>
          </a:p>
        </p:txBody>
      </p:sp>
      <p:sp>
        <p:nvSpPr>
          <p:cNvPr id="9" name="投影片編號版面配置區 8">
            <a:extLst>
              <a:ext uri="{FF2B5EF4-FFF2-40B4-BE49-F238E27FC236}">
                <a16:creationId xmlns:a16="http://schemas.microsoft.com/office/drawing/2014/main" id="{839A11E0-D9D5-F0F0-B6BB-AAE0C580055E}"/>
              </a:ext>
            </a:extLst>
          </p:cNvPr>
          <p:cNvSpPr>
            <a:spLocks noGrp="1"/>
          </p:cNvSpPr>
          <p:nvPr>
            <p:ph type="sldNum" sz="quarter" idx="12"/>
          </p:nvPr>
        </p:nvSpPr>
        <p:spPr/>
        <p:txBody>
          <a:bodyPr/>
          <a:lstStyle/>
          <a:p>
            <a:fld id="{01EC4640-AF0B-48E4-B1FB-E27D18CAC09F}" type="slidenum">
              <a:rPr lang="zh-MO" altLang="en-US" smtClean="0"/>
              <a:t>‹#›</a:t>
            </a:fld>
            <a:endParaRPr lang="zh-MO" altLang="en-US"/>
          </a:p>
        </p:txBody>
      </p:sp>
    </p:spTree>
    <p:extLst>
      <p:ext uri="{BB962C8B-B14F-4D97-AF65-F5344CB8AC3E}">
        <p14:creationId xmlns:p14="http://schemas.microsoft.com/office/powerpoint/2010/main" val="2370381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11CBC6-17EC-0635-4807-D58FD6B856B2}"/>
              </a:ext>
            </a:extLst>
          </p:cNvPr>
          <p:cNvSpPr>
            <a:spLocks noGrp="1"/>
          </p:cNvSpPr>
          <p:nvPr>
            <p:ph type="title"/>
          </p:nvPr>
        </p:nvSpPr>
        <p:spPr/>
        <p:txBody>
          <a:bodyPr/>
          <a:lstStyle/>
          <a:p>
            <a:r>
              <a:rPr lang="zh-TW" altLang="en-US"/>
              <a:t>按一下以編輯母片標題樣式</a:t>
            </a:r>
            <a:endParaRPr lang="zh-MO" altLang="en-US"/>
          </a:p>
        </p:txBody>
      </p:sp>
      <p:sp>
        <p:nvSpPr>
          <p:cNvPr id="3" name="日期版面配置區 2">
            <a:extLst>
              <a:ext uri="{FF2B5EF4-FFF2-40B4-BE49-F238E27FC236}">
                <a16:creationId xmlns:a16="http://schemas.microsoft.com/office/drawing/2014/main" id="{4DBFC07F-531B-BA97-98F3-60EE067784D1}"/>
              </a:ext>
            </a:extLst>
          </p:cNvPr>
          <p:cNvSpPr>
            <a:spLocks noGrp="1"/>
          </p:cNvSpPr>
          <p:nvPr>
            <p:ph type="dt" sz="half" idx="10"/>
          </p:nvPr>
        </p:nvSpPr>
        <p:spPr/>
        <p:txBody>
          <a:bodyPr/>
          <a:lstStyle/>
          <a:p>
            <a:fld id="{B5AC2B05-B9F3-419D-92D7-532EE5E64CB6}" type="datetimeFigureOut">
              <a:rPr lang="zh-MO" altLang="en-US" smtClean="0"/>
              <a:t>22/4/2026</a:t>
            </a:fld>
            <a:endParaRPr lang="zh-MO" altLang="en-US"/>
          </a:p>
        </p:txBody>
      </p:sp>
      <p:sp>
        <p:nvSpPr>
          <p:cNvPr id="4" name="頁尾版面配置區 3">
            <a:extLst>
              <a:ext uri="{FF2B5EF4-FFF2-40B4-BE49-F238E27FC236}">
                <a16:creationId xmlns:a16="http://schemas.microsoft.com/office/drawing/2014/main" id="{42BFB2FD-03DC-31FE-1CAC-6CD908376028}"/>
              </a:ext>
            </a:extLst>
          </p:cNvPr>
          <p:cNvSpPr>
            <a:spLocks noGrp="1"/>
          </p:cNvSpPr>
          <p:nvPr>
            <p:ph type="ftr" sz="quarter" idx="11"/>
          </p:nvPr>
        </p:nvSpPr>
        <p:spPr/>
        <p:txBody>
          <a:bodyPr/>
          <a:lstStyle/>
          <a:p>
            <a:endParaRPr lang="zh-MO" altLang="en-US"/>
          </a:p>
        </p:txBody>
      </p:sp>
      <p:sp>
        <p:nvSpPr>
          <p:cNvPr id="5" name="投影片編號版面配置區 4">
            <a:extLst>
              <a:ext uri="{FF2B5EF4-FFF2-40B4-BE49-F238E27FC236}">
                <a16:creationId xmlns:a16="http://schemas.microsoft.com/office/drawing/2014/main" id="{62CB5E8E-915E-52B4-5C9A-497F237256C9}"/>
              </a:ext>
            </a:extLst>
          </p:cNvPr>
          <p:cNvSpPr>
            <a:spLocks noGrp="1"/>
          </p:cNvSpPr>
          <p:nvPr>
            <p:ph type="sldNum" sz="quarter" idx="12"/>
          </p:nvPr>
        </p:nvSpPr>
        <p:spPr/>
        <p:txBody>
          <a:bodyPr/>
          <a:lstStyle/>
          <a:p>
            <a:fld id="{01EC4640-AF0B-48E4-B1FB-E27D18CAC09F}" type="slidenum">
              <a:rPr lang="zh-MO" altLang="en-US" smtClean="0"/>
              <a:t>‹#›</a:t>
            </a:fld>
            <a:endParaRPr lang="zh-MO" altLang="en-US"/>
          </a:p>
        </p:txBody>
      </p:sp>
    </p:spTree>
    <p:extLst>
      <p:ext uri="{BB962C8B-B14F-4D97-AF65-F5344CB8AC3E}">
        <p14:creationId xmlns:p14="http://schemas.microsoft.com/office/powerpoint/2010/main" val="4033333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2476EDA-A0AB-AE9A-4EBA-26502C45F1E2}"/>
              </a:ext>
            </a:extLst>
          </p:cNvPr>
          <p:cNvSpPr>
            <a:spLocks noGrp="1"/>
          </p:cNvSpPr>
          <p:nvPr>
            <p:ph type="dt" sz="half" idx="10"/>
          </p:nvPr>
        </p:nvSpPr>
        <p:spPr/>
        <p:txBody>
          <a:bodyPr/>
          <a:lstStyle/>
          <a:p>
            <a:fld id="{B5AC2B05-B9F3-419D-92D7-532EE5E64CB6}" type="datetimeFigureOut">
              <a:rPr lang="zh-MO" altLang="en-US" smtClean="0"/>
              <a:t>22/4/2026</a:t>
            </a:fld>
            <a:endParaRPr lang="zh-MO" altLang="en-US"/>
          </a:p>
        </p:txBody>
      </p:sp>
      <p:sp>
        <p:nvSpPr>
          <p:cNvPr id="3" name="頁尾版面配置區 2">
            <a:extLst>
              <a:ext uri="{FF2B5EF4-FFF2-40B4-BE49-F238E27FC236}">
                <a16:creationId xmlns:a16="http://schemas.microsoft.com/office/drawing/2014/main" id="{676FDA89-95FF-EEAD-08FF-72030BEE75F2}"/>
              </a:ext>
            </a:extLst>
          </p:cNvPr>
          <p:cNvSpPr>
            <a:spLocks noGrp="1"/>
          </p:cNvSpPr>
          <p:nvPr>
            <p:ph type="ftr" sz="quarter" idx="11"/>
          </p:nvPr>
        </p:nvSpPr>
        <p:spPr/>
        <p:txBody>
          <a:bodyPr/>
          <a:lstStyle/>
          <a:p>
            <a:endParaRPr lang="zh-MO" altLang="en-US"/>
          </a:p>
        </p:txBody>
      </p:sp>
      <p:sp>
        <p:nvSpPr>
          <p:cNvPr id="4" name="投影片編號版面配置區 3">
            <a:extLst>
              <a:ext uri="{FF2B5EF4-FFF2-40B4-BE49-F238E27FC236}">
                <a16:creationId xmlns:a16="http://schemas.microsoft.com/office/drawing/2014/main" id="{DB69AF36-93D3-B6EA-4CA0-137AB4C7A275}"/>
              </a:ext>
            </a:extLst>
          </p:cNvPr>
          <p:cNvSpPr>
            <a:spLocks noGrp="1"/>
          </p:cNvSpPr>
          <p:nvPr>
            <p:ph type="sldNum" sz="quarter" idx="12"/>
          </p:nvPr>
        </p:nvSpPr>
        <p:spPr/>
        <p:txBody>
          <a:bodyPr/>
          <a:lstStyle/>
          <a:p>
            <a:fld id="{01EC4640-AF0B-48E4-B1FB-E27D18CAC09F}" type="slidenum">
              <a:rPr lang="zh-MO" altLang="en-US" smtClean="0"/>
              <a:t>‹#›</a:t>
            </a:fld>
            <a:endParaRPr lang="zh-MO" altLang="en-US"/>
          </a:p>
        </p:txBody>
      </p:sp>
    </p:spTree>
    <p:extLst>
      <p:ext uri="{BB962C8B-B14F-4D97-AF65-F5344CB8AC3E}">
        <p14:creationId xmlns:p14="http://schemas.microsoft.com/office/powerpoint/2010/main" val="336403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71EF12-4FA7-DA5C-D59F-D5FFCAC09B2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zh-MO" altLang="en-US"/>
          </a:p>
        </p:txBody>
      </p:sp>
      <p:sp>
        <p:nvSpPr>
          <p:cNvPr id="3" name="內容版面配置區 2">
            <a:extLst>
              <a:ext uri="{FF2B5EF4-FFF2-40B4-BE49-F238E27FC236}">
                <a16:creationId xmlns:a16="http://schemas.microsoft.com/office/drawing/2014/main" id="{7A16AD2C-DA57-A944-937B-7FCB50E170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MO" altLang="en-US"/>
          </a:p>
        </p:txBody>
      </p:sp>
      <p:sp>
        <p:nvSpPr>
          <p:cNvPr id="4" name="文字版面配置區 3">
            <a:extLst>
              <a:ext uri="{FF2B5EF4-FFF2-40B4-BE49-F238E27FC236}">
                <a16:creationId xmlns:a16="http://schemas.microsoft.com/office/drawing/2014/main" id="{1B36A6A4-AC5F-D18A-71C6-E1AABFC912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81A9872-365D-5E96-6A46-E46BAA12301B}"/>
              </a:ext>
            </a:extLst>
          </p:cNvPr>
          <p:cNvSpPr>
            <a:spLocks noGrp="1"/>
          </p:cNvSpPr>
          <p:nvPr>
            <p:ph type="dt" sz="half" idx="10"/>
          </p:nvPr>
        </p:nvSpPr>
        <p:spPr/>
        <p:txBody>
          <a:bodyPr/>
          <a:lstStyle/>
          <a:p>
            <a:fld id="{B5AC2B05-B9F3-419D-92D7-532EE5E64CB6}" type="datetimeFigureOut">
              <a:rPr lang="zh-MO" altLang="en-US" smtClean="0"/>
              <a:t>22/4/2026</a:t>
            </a:fld>
            <a:endParaRPr lang="zh-MO" altLang="en-US"/>
          </a:p>
        </p:txBody>
      </p:sp>
      <p:sp>
        <p:nvSpPr>
          <p:cNvPr id="6" name="頁尾版面配置區 5">
            <a:extLst>
              <a:ext uri="{FF2B5EF4-FFF2-40B4-BE49-F238E27FC236}">
                <a16:creationId xmlns:a16="http://schemas.microsoft.com/office/drawing/2014/main" id="{CE392E33-116A-B123-B7C7-C1504B0C5229}"/>
              </a:ext>
            </a:extLst>
          </p:cNvPr>
          <p:cNvSpPr>
            <a:spLocks noGrp="1"/>
          </p:cNvSpPr>
          <p:nvPr>
            <p:ph type="ftr" sz="quarter" idx="11"/>
          </p:nvPr>
        </p:nvSpPr>
        <p:spPr/>
        <p:txBody>
          <a:bodyPr/>
          <a:lstStyle/>
          <a:p>
            <a:endParaRPr lang="zh-MO" altLang="en-US"/>
          </a:p>
        </p:txBody>
      </p:sp>
      <p:sp>
        <p:nvSpPr>
          <p:cNvPr id="7" name="投影片編號版面配置區 6">
            <a:extLst>
              <a:ext uri="{FF2B5EF4-FFF2-40B4-BE49-F238E27FC236}">
                <a16:creationId xmlns:a16="http://schemas.microsoft.com/office/drawing/2014/main" id="{A01178B3-4F55-0077-CF90-6A8FCB6DF3DF}"/>
              </a:ext>
            </a:extLst>
          </p:cNvPr>
          <p:cNvSpPr>
            <a:spLocks noGrp="1"/>
          </p:cNvSpPr>
          <p:nvPr>
            <p:ph type="sldNum" sz="quarter" idx="12"/>
          </p:nvPr>
        </p:nvSpPr>
        <p:spPr/>
        <p:txBody>
          <a:bodyPr/>
          <a:lstStyle/>
          <a:p>
            <a:fld id="{01EC4640-AF0B-48E4-B1FB-E27D18CAC09F}" type="slidenum">
              <a:rPr lang="zh-MO" altLang="en-US" smtClean="0"/>
              <a:t>‹#›</a:t>
            </a:fld>
            <a:endParaRPr lang="zh-MO" altLang="en-US"/>
          </a:p>
        </p:txBody>
      </p:sp>
    </p:spTree>
    <p:extLst>
      <p:ext uri="{BB962C8B-B14F-4D97-AF65-F5344CB8AC3E}">
        <p14:creationId xmlns:p14="http://schemas.microsoft.com/office/powerpoint/2010/main" val="866782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EEA799-2450-51D7-0252-F98CC465CF4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zh-MO" altLang="en-US"/>
          </a:p>
        </p:txBody>
      </p:sp>
      <p:sp>
        <p:nvSpPr>
          <p:cNvPr id="3" name="圖片版面配置區 2">
            <a:extLst>
              <a:ext uri="{FF2B5EF4-FFF2-40B4-BE49-F238E27FC236}">
                <a16:creationId xmlns:a16="http://schemas.microsoft.com/office/drawing/2014/main" id="{61F7F91D-206A-3EA6-66B3-278E95F83E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MO" altLang="en-US"/>
          </a:p>
        </p:txBody>
      </p:sp>
      <p:sp>
        <p:nvSpPr>
          <p:cNvPr id="4" name="文字版面配置區 3">
            <a:extLst>
              <a:ext uri="{FF2B5EF4-FFF2-40B4-BE49-F238E27FC236}">
                <a16:creationId xmlns:a16="http://schemas.microsoft.com/office/drawing/2014/main" id="{D6DA6665-5CB7-1A9B-1DC5-503C902D38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C8FC1588-8DD4-DDDC-43D3-79D2C3BF75B3}"/>
              </a:ext>
            </a:extLst>
          </p:cNvPr>
          <p:cNvSpPr>
            <a:spLocks noGrp="1"/>
          </p:cNvSpPr>
          <p:nvPr>
            <p:ph type="dt" sz="half" idx="10"/>
          </p:nvPr>
        </p:nvSpPr>
        <p:spPr/>
        <p:txBody>
          <a:bodyPr/>
          <a:lstStyle/>
          <a:p>
            <a:fld id="{B5AC2B05-B9F3-419D-92D7-532EE5E64CB6}" type="datetimeFigureOut">
              <a:rPr lang="zh-MO" altLang="en-US" smtClean="0"/>
              <a:t>22/4/2026</a:t>
            </a:fld>
            <a:endParaRPr lang="zh-MO" altLang="en-US"/>
          </a:p>
        </p:txBody>
      </p:sp>
      <p:sp>
        <p:nvSpPr>
          <p:cNvPr id="6" name="頁尾版面配置區 5">
            <a:extLst>
              <a:ext uri="{FF2B5EF4-FFF2-40B4-BE49-F238E27FC236}">
                <a16:creationId xmlns:a16="http://schemas.microsoft.com/office/drawing/2014/main" id="{0A52840C-02C1-AAE8-A52A-95F1C011C7C6}"/>
              </a:ext>
            </a:extLst>
          </p:cNvPr>
          <p:cNvSpPr>
            <a:spLocks noGrp="1"/>
          </p:cNvSpPr>
          <p:nvPr>
            <p:ph type="ftr" sz="quarter" idx="11"/>
          </p:nvPr>
        </p:nvSpPr>
        <p:spPr/>
        <p:txBody>
          <a:bodyPr/>
          <a:lstStyle/>
          <a:p>
            <a:endParaRPr lang="zh-MO" altLang="en-US"/>
          </a:p>
        </p:txBody>
      </p:sp>
      <p:sp>
        <p:nvSpPr>
          <p:cNvPr id="7" name="投影片編號版面配置區 6">
            <a:extLst>
              <a:ext uri="{FF2B5EF4-FFF2-40B4-BE49-F238E27FC236}">
                <a16:creationId xmlns:a16="http://schemas.microsoft.com/office/drawing/2014/main" id="{DFF17301-6CEE-F37B-110D-9DB1C829D8C3}"/>
              </a:ext>
            </a:extLst>
          </p:cNvPr>
          <p:cNvSpPr>
            <a:spLocks noGrp="1"/>
          </p:cNvSpPr>
          <p:nvPr>
            <p:ph type="sldNum" sz="quarter" idx="12"/>
          </p:nvPr>
        </p:nvSpPr>
        <p:spPr/>
        <p:txBody>
          <a:bodyPr/>
          <a:lstStyle/>
          <a:p>
            <a:fld id="{01EC4640-AF0B-48E4-B1FB-E27D18CAC09F}" type="slidenum">
              <a:rPr lang="zh-MO" altLang="en-US" smtClean="0"/>
              <a:t>‹#›</a:t>
            </a:fld>
            <a:endParaRPr lang="zh-MO" altLang="en-US"/>
          </a:p>
        </p:txBody>
      </p:sp>
    </p:spTree>
    <p:extLst>
      <p:ext uri="{BB962C8B-B14F-4D97-AF65-F5344CB8AC3E}">
        <p14:creationId xmlns:p14="http://schemas.microsoft.com/office/powerpoint/2010/main" val="2192995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694D600-3B56-D6F5-3C48-730F78230C5F}"/>
              </a:ext>
            </a:extLst>
          </p:cNvPr>
          <p:cNvSpPr>
            <a:spLocks noGrp="1"/>
          </p:cNvSpPr>
          <p:nvPr>
            <p:ph type="title"/>
          </p:nvPr>
        </p:nvSpPr>
        <p:spPr/>
        <p:txBody>
          <a:bodyPr/>
          <a:lstStyle/>
          <a:p>
            <a:r>
              <a:rPr lang="zh-TW" altLang="en-US"/>
              <a:t>按一下以編輯母片標題樣式</a:t>
            </a:r>
            <a:endParaRPr lang="zh-MO" altLang="en-US"/>
          </a:p>
        </p:txBody>
      </p:sp>
      <p:sp>
        <p:nvSpPr>
          <p:cNvPr id="3" name="直排文字版面配置區 2">
            <a:extLst>
              <a:ext uri="{FF2B5EF4-FFF2-40B4-BE49-F238E27FC236}">
                <a16:creationId xmlns:a16="http://schemas.microsoft.com/office/drawing/2014/main" id="{3F4C1C01-020C-802F-7B92-258F5EFC1C49}"/>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MO" altLang="en-US"/>
          </a:p>
        </p:txBody>
      </p:sp>
      <p:sp>
        <p:nvSpPr>
          <p:cNvPr id="4" name="日期版面配置區 3">
            <a:extLst>
              <a:ext uri="{FF2B5EF4-FFF2-40B4-BE49-F238E27FC236}">
                <a16:creationId xmlns:a16="http://schemas.microsoft.com/office/drawing/2014/main" id="{55BF9D90-93B0-44A6-BC3E-13180B174CE3}"/>
              </a:ext>
            </a:extLst>
          </p:cNvPr>
          <p:cNvSpPr>
            <a:spLocks noGrp="1"/>
          </p:cNvSpPr>
          <p:nvPr>
            <p:ph type="dt" sz="half" idx="10"/>
          </p:nvPr>
        </p:nvSpPr>
        <p:spPr/>
        <p:txBody>
          <a:bodyPr/>
          <a:lstStyle/>
          <a:p>
            <a:fld id="{B5AC2B05-B9F3-419D-92D7-532EE5E64CB6}" type="datetimeFigureOut">
              <a:rPr lang="zh-MO" altLang="en-US" smtClean="0"/>
              <a:t>22/4/2026</a:t>
            </a:fld>
            <a:endParaRPr lang="zh-MO" altLang="en-US"/>
          </a:p>
        </p:txBody>
      </p:sp>
      <p:sp>
        <p:nvSpPr>
          <p:cNvPr id="5" name="頁尾版面配置區 4">
            <a:extLst>
              <a:ext uri="{FF2B5EF4-FFF2-40B4-BE49-F238E27FC236}">
                <a16:creationId xmlns:a16="http://schemas.microsoft.com/office/drawing/2014/main" id="{98ACC4BD-EFAA-B661-60E4-2A8361FEA867}"/>
              </a:ext>
            </a:extLst>
          </p:cNvPr>
          <p:cNvSpPr>
            <a:spLocks noGrp="1"/>
          </p:cNvSpPr>
          <p:nvPr>
            <p:ph type="ftr" sz="quarter" idx="11"/>
          </p:nvPr>
        </p:nvSpPr>
        <p:spPr/>
        <p:txBody>
          <a:bodyPr/>
          <a:lstStyle/>
          <a:p>
            <a:endParaRPr lang="zh-MO" altLang="en-US"/>
          </a:p>
        </p:txBody>
      </p:sp>
      <p:sp>
        <p:nvSpPr>
          <p:cNvPr id="6" name="投影片編號版面配置區 5">
            <a:extLst>
              <a:ext uri="{FF2B5EF4-FFF2-40B4-BE49-F238E27FC236}">
                <a16:creationId xmlns:a16="http://schemas.microsoft.com/office/drawing/2014/main" id="{6CC6D4E8-2830-C5F1-2A37-AA1E7A018EF0}"/>
              </a:ext>
            </a:extLst>
          </p:cNvPr>
          <p:cNvSpPr>
            <a:spLocks noGrp="1"/>
          </p:cNvSpPr>
          <p:nvPr>
            <p:ph type="sldNum" sz="quarter" idx="12"/>
          </p:nvPr>
        </p:nvSpPr>
        <p:spPr/>
        <p:txBody>
          <a:bodyPr/>
          <a:lstStyle/>
          <a:p>
            <a:fld id="{01EC4640-AF0B-48E4-B1FB-E27D18CAC09F}" type="slidenum">
              <a:rPr lang="zh-MO" altLang="en-US" smtClean="0"/>
              <a:t>‹#›</a:t>
            </a:fld>
            <a:endParaRPr lang="zh-MO" altLang="en-US"/>
          </a:p>
        </p:txBody>
      </p:sp>
    </p:spTree>
    <p:extLst>
      <p:ext uri="{BB962C8B-B14F-4D97-AF65-F5344CB8AC3E}">
        <p14:creationId xmlns:p14="http://schemas.microsoft.com/office/powerpoint/2010/main" val="1103112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9842FC43-24B9-1A72-EB5D-C4066F05322B}"/>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zh-MO" altLang="en-US"/>
          </a:p>
        </p:txBody>
      </p:sp>
      <p:sp>
        <p:nvSpPr>
          <p:cNvPr id="3" name="直排文字版面配置區 2">
            <a:extLst>
              <a:ext uri="{FF2B5EF4-FFF2-40B4-BE49-F238E27FC236}">
                <a16:creationId xmlns:a16="http://schemas.microsoft.com/office/drawing/2014/main" id="{D1BA4BB1-D45F-903D-421D-B879692D34B3}"/>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MO" altLang="en-US"/>
          </a:p>
        </p:txBody>
      </p:sp>
      <p:sp>
        <p:nvSpPr>
          <p:cNvPr id="4" name="日期版面配置區 3">
            <a:extLst>
              <a:ext uri="{FF2B5EF4-FFF2-40B4-BE49-F238E27FC236}">
                <a16:creationId xmlns:a16="http://schemas.microsoft.com/office/drawing/2014/main" id="{591EBAC5-FD4E-3D95-D83F-CF6AB34896F6}"/>
              </a:ext>
            </a:extLst>
          </p:cNvPr>
          <p:cNvSpPr>
            <a:spLocks noGrp="1"/>
          </p:cNvSpPr>
          <p:nvPr>
            <p:ph type="dt" sz="half" idx="10"/>
          </p:nvPr>
        </p:nvSpPr>
        <p:spPr/>
        <p:txBody>
          <a:bodyPr/>
          <a:lstStyle/>
          <a:p>
            <a:fld id="{B5AC2B05-B9F3-419D-92D7-532EE5E64CB6}" type="datetimeFigureOut">
              <a:rPr lang="zh-MO" altLang="en-US" smtClean="0"/>
              <a:t>22/4/2026</a:t>
            </a:fld>
            <a:endParaRPr lang="zh-MO" altLang="en-US"/>
          </a:p>
        </p:txBody>
      </p:sp>
      <p:sp>
        <p:nvSpPr>
          <p:cNvPr id="5" name="頁尾版面配置區 4">
            <a:extLst>
              <a:ext uri="{FF2B5EF4-FFF2-40B4-BE49-F238E27FC236}">
                <a16:creationId xmlns:a16="http://schemas.microsoft.com/office/drawing/2014/main" id="{6AA273C9-F4BA-B1D8-4B65-59E7CC0AF34A}"/>
              </a:ext>
            </a:extLst>
          </p:cNvPr>
          <p:cNvSpPr>
            <a:spLocks noGrp="1"/>
          </p:cNvSpPr>
          <p:nvPr>
            <p:ph type="ftr" sz="quarter" idx="11"/>
          </p:nvPr>
        </p:nvSpPr>
        <p:spPr/>
        <p:txBody>
          <a:bodyPr/>
          <a:lstStyle/>
          <a:p>
            <a:endParaRPr lang="zh-MO" altLang="en-US"/>
          </a:p>
        </p:txBody>
      </p:sp>
      <p:sp>
        <p:nvSpPr>
          <p:cNvPr id="6" name="投影片編號版面配置區 5">
            <a:extLst>
              <a:ext uri="{FF2B5EF4-FFF2-40B4-BE49-F238E27FC236}">
                <a16:creationId xmlns:a16="http://schemas.microsoft.com/office/drawing/2014/main" id="{65D378A7-4CA3-D3F8-C38A-E29900CB1790}"/>
              </a:ext>
            </a:extLst>
          </p:cNvPr>
          <p:cNvSpPr>
            <a:spLocks noGrp="1"/>
          </p:cNvSpPr>
          <p:nvPr>
            <p:ph type="sldNum" sz="quarter" idx="12"/>
          </p:nvPr>
        </p:nvSpPr>
        <p:spPr/>
        <p:txBody>
          <a:bodyPr/>
          <a:lstStyle/>
          <a:p>
            <a:fld id="{01EC4640-AF0B-48E4-B1FB-E27D18CAC09F}" type="slidenum">
              <a:rPr lang="zh-MO" altLang="en-US" smtClean="0"/>
              <a:t>‹#›</a:t>
            </a:fld>
            <a:endParaRPr lang="zh-MO" altLang="en-US"/>
          </a:p>
        </p:txBody>
      </p:sp>
    </p:spTree>
    <p:extLst>
      <p:ext uri="{BB962C8B-B14F-4D97-AF65-F5344CB8AC3E}">
        <p14:creationId xmlns:p14="http://schemas.microsoft.com/office/powerpoint/2010/main" val="1220321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A69CCA4C-785D-CB0C-C052-26246150E0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zh-MO" altLang="en-US"/>
          </a:p>
        </p:txBody>
      </p:sp>
      <p:sp>
        <p:nvSpPr>
          <p:cNvPr id="3" name="文字版面配置區 2">
            <a:extLst>
              <a:ext uri="{FF2B5EF4-FFF2-40B4-BE49-F238E27FC236}">
                <a16:creationId xmlns:a16="http://schemas.microsoft.com/office/drawing/2014/main" id="{D40D1E3B-B896-A53E-6EC0-0219B58463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MO" altLang="en-US"/>
          </a:p>
        </p:txBody>
      </p:sp>
      <p:sp>
        <p:nvSpPr>
          <p:cNvPr id="4" name="日期版面配置區 3">
            <a:extLst>
              <a:ext uri="{FF2B5EF4-FFF2-40B4-BE49-F238E27FC236}">
                <a16:creationId xmlns:a16="http://schemas.microsoft.com/office/drawing/2014/main" id="{10D4538D-2F6F-AA5C-C7F8-93E5972519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AC2B05-B9F3-419D-92D7-532EE5E64CB6}" type="datetimeFigureOut">
              <a:rPr lang="zh-MO" altLang="en-US" smtClean="0"/>
              <a:t>22/4/2026</a:t>
            </a:fld>
            <a:endParaRPr lang="zh-MO" altLang="en-US"/>
          </a:p>
        </p:txBody>
      </p:sp>
      <p:sp>
        <p:nvSpPr>
          <p:cNvPr id="5" name="頁尾版面配置區 4">
            <a:extLst>
              <a:ext uri="{FF2B5EF4-FFF2-40B4-BE49-F238E27FC236}">
                <a16:creationId xmlns:a16="http://schemas.microsoft.com/office/drawing/2014/main" id="{EB5701CA-B9D4-4465-5581-E67560C4B2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MO" altLang="en-US"/>
          </a:p>
        </p:txBody>
      </p:sp>
      <p:sp>
        <p:nvSpPr>
          <p:cNvPr id="6" name="投影片編號版面配置區 5">
            <a:extLst>
              <a:ext uri="{FF2B5EF4-FFF2-40B4-BE49-F238E27FC236}">
                <a16:creationId xmlns:a16="http://schemas.microsoft.com/office/drawing/2014/main" id="{3B19A969-0F85-6952-038D-E8BE4C1C31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EC4640-AF0B-48E4-B1FB-E27D18CAC09F}" type="slidenum">
              <a:rPr lang="zh-MO" altLang="en-US" smtClean="0"/>
              <a:t>‹#›</a:t>
            </a:fld>
            <a:endParaRPr lang="zh-MO" altLang="en-US"/>
          </a:p>
        </p:txBody>
      </p:sp>
    </p:spTree>
    <p:extLst>
      <p:ext uri="{BB962C8B-B14F-4D97-AF65-F5344CB8AC3E}">
        <p14:creationId xmlns:p14="http://schemas.microsoft.com/office/powerpoint/2010/main" val="884053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M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4AFF53-F473-B18B-29FE-3875866E1133}"/>
              </a:ext>
            </a:extLst>
          </p:cNvPr>
          <p:cNvSpPr>
            <a:spLocks noGrp="1"/>
          </p:cNvSpPr>
          <p:nvPr>
            <p:ph type="title"/>
          </p:nvPr>
        </p:nvSpPr>
        <p:spPr/>
        <p:txBody>
          <a:bodyPr/>
          <a:lstStyle/>
          <a:p>
            <a:endParaRPr lang="zh-MO" altLang="en-US"/>
          </a:p>
        </p:txBody>
      </p:sp>
      <p:sp>
        <p:nvSpPr>
          <p:cNvPr id="3" name="內容版面配置區 2">
            <a:extLst>
              <a:ext uri="{FF2B5EF4-FFF2-40B4-BE49-F238E27FC236}">
                <a16:creationId xmlns:a16="http://schemas.microsoft.com/office/drawing/2014/main" id="{2C85F85B-A836-A372-2710-C71C7460208A}"/>
              </a:ext>
            </a:extLst>
          </p:cNvPr>
          <p:cNvSpPr>
            <a:spLocks noGrp="1"/>
          </p:cNvSpPr>
          <p:nvPr>
            <p:ph idx="1"/>
          </p:nvPr>
        </p:nvSpPr>
        <p:spPr/>
        <p:txBody>
          <a:bodyPr>
            <a:normAutofit fontScale="92500" lnSpcReduction="10000"/>
          </a:bodyPr>
          <a:lstStyle/>
          <a:p>
            <a:r>
              <a:rPr lang="en-US" altLang="zh-MO" b="1" dirty="0"/>
              <a:t>Character Introduction</a:t>
            </a:r>
          </a:p>
          <a:p>
            <a:r>
              <a:rPr lang="en-US" altLang="zh-MO" b="1" dirty="0"/>
              <a:t>Name:</a:t>
            </a:r>
            <a:r>
              <a:rPr lang="en-US" altLang="zh-MO" dirty="0"/>
              <a:t> Alex, 28</a:t>
            </a:r>
            <a:br>
              <a:rPr lang="en-US" altLang="zh-MO" dirty="0"/>
            </a:br>
            <a:r>
              <a:rPr lang="en-US" altLang="zh-MO" b="1" dirty="0"/>
              <a:t>Occupation:</a:t>
            </a:r>
            <a:r>
              <a:rPr lang="en-US" altLang="zh-MO" dirty="0"/>
              <a:t> Marketing coordinator</a:t>
            </a:r>
            <a:br>
              <a:rPr lang="en-US" altLang="zh-MO" dirty="0"/>
            </a:br>
            <a:r>
              <a:rPr lang="en-US" altLang="zh-MO" b="1" dirty="0"/>
              <a:t>Living situation:</a:t>
            </a:r>
            <a:r>
              <a:rPr lang="en-US" altLang="zh-MO" dirty="0"/>
              <a:t> Lives alone in a studio apartment. Moved to a new city two years ago for work. Has a few work friends but no one he feels truly close to.</a:t>
            </a:r>
            <a:br>
              <a:rPr lang="en-US" altLang="zh-MO" dirty="0"/>
            </a:br>
            <a:r>
              <a:rPr lang="en-US" altLang="zh-MO" b="1" dirty="0"/>
              <a:t>Online habits:</a:t>
            </a:r>
            <a:r>
              <a:rPr lang="en-US" altLang="zh-MO" dirty="0"/>
              <a:t> Daily Twitter and Reddit user. Follows gaming, tech reviews, fitness content, and a few cosplay creators.</a:t>
            </a:r>
            <a:br>
              <a:rPr lang="en-US" altLang="zh-MO" dirty="0"/>
            </a:br>
            <a:r>
              <a:rPr lang="en-US" altLang="zh-MO" b="1" dirty="0"/>
              <a:t>Current status:</a:t>
            </a:r>
            <a:r>
              <a:rPr lang="en-US" altLang="zh-MO" dirty="0"/>
              <a:t> Has subscribed to a few creators in the past, but never for more than two months at a time.</a:t>
            </a:r>
            <a:br>
              <a:rPr lang="en-US" altLang="zh-MO" dirty="0"/>
            </a:br>
            <a:r>
              <a:rPr lang="en-US" altLang="zh-MO" b="1" dirty="0"/>
              <a:t>Core tension Alex faces:</a:t>
            </a:r>
            <a:r>
              <a:rPr lang="en-US" altLang="zh-MO" dirty="0"/>
              <a:t> He wants genuine connection but suspects what he's getting is performative. He keeps paying anyway.</a:t>
            </a:r>
          </a:p>
          <a:p>
            <a:endParaRPr lang="zh-MO" altLang="en-US" dirty="0"/>
          </a:p>
        </p:txBody>
      </p:sp>
    </p:spTree>
    <p:extLst>
      <p:ext uri="{BB962C8B-B14F-4D97-AF65-F5344CB8AC3E}">
        <p14:creationId xmlns:p14="http://schemas.microsoft.com/office/powerpoint/2010/main" val="1662429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698B1CF-46AD-4191-0E4E-7B94C0E2FF23}"/>
              </a:ext>
            </a:extLst>
          </p:cNvPr>
          <p:cNvSpPr>
            <a:spLocks noGrp="1"/>
          </p:cNvSpPr>
          <p:nvPr>
            <p:ph type="title"/>
          </p:nvPr>
        </p:nvSpPr>
        <p:spPr/>
        <p:txBody>
          <a:bodyPr/>
          <a:lstStyle/>
          <a:p>
            <a:endParaRPr lang="zh-MO" altLang="en-US"/>
          </a:p>
        </p:txBody>
      </p:sp>
      <p:sp>
        <p:nvSpPr>
          <p:cNvPr id="3" name="內容版面配置區 2">
            <a:extLst>
              <a:ext uri="{FF2B5EF4-FFF2-40B4-BE49-F238E27FC236}">
                <a16:creationId xmlns:a16="http://schemas.microsoft.com/office/drawing/2014/main" id="{4B34B320-A85E-C44C-37AF-73115D8055DC}"/>
              </a:ext>
            </a:extLst>
          </p:cNvPr>
          <p:cNvSpPr>
            <a:spLocks noGrp="1"/>
          </p:cNvSpPr>
          <p:nvPr>
            <p:ph idx="1"/>
          </p:nvPr>
        </p:nvSpPr>
        <p:spPr/>
        <p:txBody>
          <a:bodyPr/>
          <a:lstStyle/>
          <a:p>
            <a:r>
              <a:rPr lang="en-US" altLang="zh-MO" b="1" dirty="0"/>
              <a:t>Scene 1: The Scroll</a:t>
            </a:r>
          </a:p>
          <a:p>
            <a:r>
              <a:rPr lang="en-US" altLang="zh-MO" b="1" dirty="0"/>
              <a:t>Setting:</a:t>
            </a:r>
            <a:r>
              <a:rPr lang="en-US" altLang="zh-MO" dirty="0"/>
              <a:t> It's Thursday night, 11:47 PM. Alex is in bed, phone in hand, unable to sleep. He's been scrolling Twitter for an hour. A creator he follows—someone whose cosplay content he's liked for months—posts a link: </a:t>
            </a:r>
            <a:r>
              <a:rPr lang="en-US" altLang="zh-MO" i="1" dirty="0"/>
              <a:t>"New subscribers get a free welcome video. Link in bio."</a:t>
            </a:r>
            <a:endParaRPr lang="en-US" altLang="zh-MO" dirty="0"/>
          </a:p>
          <a:p>
            <a:r>
              <a:rPr lang="en-US" altLang="zh-MO" dirty="0"/>
              <a:t>Alex has seen her paid content advertised before. He's always scrolled past. But tonight, something feels different. He's tired. Lonely. Curious.</a:t>
            </a:r>
          </a:p>
          <a:p>
            <a:endParaRPr lang="zh-MO" altLang="en-US" dirty="0"/>
          </a:p>
        </p:txBody>
      </p:sp>
    </p:spTree>
    <p:extLst>
      <p:ext uri="{BB962C8B-B14F-4D97-AF65-F5344CB8AC3E}">
        <p14:creationId xmlns:p14="http://schemas.microsoft.com/office/powerpoint/2010/main" val="945586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D8DD49-2968-5675-41D5-6486DDAE9292}"/>
              </a:ext>
            </a:extLst>
          </p:cNvPr>
          <p:cNvSpPr>
            <a:spLocks noGrp="1"/>
          </p:cNvSpPr>
          <p:nvPr>
            <p:ph type="title"/>
          </p:nvPr>
        </p:nvSpPr>
        <p:spPr/>
        <p:txBody>
          <a:bodyPr>
            <a:normAutofit fontScale="90000"/>
          </a:bodyPr>
          <a:lstStyle/>
          <a:p>
            <a:r>
              <a:rPr lang="zh-MO" altLang="zh-MO" b="1" dirty="0">
                <a:solidFill>
                  <a:srgbClr val="0F1115"/>
                </a:solidFill>
                <a:latin typeface="Arial" panose="020B0604020202020204" pitchFamily="34" charset="0"/>
                <a:ea typeface="quote-cjk-patch"/>
              </a:rPr>
              <a:t>Audience Choice A – What does Alex do?</a:t>
            </a:r>
            <a:br>
              <a:rPr kumimoji="0" lang="zh-MO" altLang="zh-MO" sz="2400" b="0" i="0" u="none" strike="noStrike" cap="none" normalizeH="0" baseline="0" dirty="0">
                <a:ln>
                  <a:noFill/>
                </a:ln>
                <a:solidFill>
                  <a:schemeClr val="tx1"/>
                </a:solidFill>
                <a:effectLst/>
                <a:latin typeface="Arial" panose="020B0604020202020204" pitchFamily="34" charset="0"/>
              </a:rPr>
            </a:br>
            <a:endParaRPr lang="zh-MO" altLang="en-US" dirty="0"/>
          </a:p>
        </p:txBody>
      </p:sp>
      <p:graphicFrame>
        <p:nvGraphicFramePr>
          <p:cNvPr id="4" name="內容版面配置區 3">
            <a:extLst>
              <a:ext uri="{FF2B5EF4-FFF2-40B4-BE49-F238E27FC236}">
                <a16:creationId xmlns:a16="http://schemas.microsoft.com/office/drawing/2014/main" id="{9562159F-E061-C616-9E7E-D788AD8E74FB}"/>
              </a:ext>
            </a:extLst>
          </p:cNvPr>
          <p:cNvGraphicFramePr>
            <a:graphicFrameLocks noGrp="1"/>
          </p:cNvGraphicFramePr>
          <p:nvPr>
            <p:ph idx="1"/>
            <p:extLst>
              <p:ext uri="{D42A27DB-BD31-4B8C-83A1-F6EECF244321}">
                <p14:modId xmlns:p14="http://schemas.microsoft.com/office/powerpoint/2010/main" val="1271900212"/>
              </p:ext>
            </p:extLst>
          </p:nvPr>
        </p:nvGraphicFramePr>
        <p:xfrm>
          <a:off x="1001252" y="2055813"/>
          <a:ext cx="9880599" cy="4040186"/>
        </p:xfrm>
        <a:graphic>
          <a:graphicData uri="http://schemas.openxmlformats.org/drawingml/2006/table">
            <a:tbl>
              <a:tblPr/>
              <a:tblGrid>
                <a:gridCol w="3293533">
                  <a:extLst>
                    <a:ext uri="{9D8B030D-6E8A-4147-A177-3AD203B41FA5}">
                      <a16:colId xmlns:a16="http://schemas.microsoft.com/office/drawing/2014/main" val="334833007"/>
                    </a:ext>
                  </a:extLst>
                </a:gridCol>
                <a:gridCol w="3293533">
                  <a:extLst>
                    <a:ext uri="{9D8B030D-6E8A-4147-A177-3AD203B41FA5}">
                      <a16:colId xmlns:a16="http://schemas.microsoft.com/office/drawing/2014/main" val="1476662891"/>
                    </a:ext>
                  </a:extLst>
                </a:gridCol>
                <a:gridCol w="3293533">
                  <a:extLst>
                    <a:ext uri="{9D8B030D-6E8A-4147-A177-3AD203B41FA5}">
                      <a16:colId xmlns:a16="http://schemas.microsoft.com/office/drawing/2014/main" val="1827485770"/>
                    </a:ext>
                  </a:extLst>
                </a:gridCol>
              </a:tblGrid>
              <a:tr h="786029">
                <a:tc>
                  <a:txBody>
                    <a:bodyPr/>
                    <a:lstStyle/>
                    <a:p>
                      <a:pPr algn="l">
                        <a:lnSpc>
                          <a:spcPts val="1875"/>
                        </a:lnSpc>
                        <a:buNone/>
                      </a:pPr>
                      <a:r>
                        <a:rPr lang="en-US" b="0">
                          <a:effectLst/>
                          <a:latin typeface="quote-cjk-patch"/>
                        </a:rPr>
                        <a:t>Option</a:t>
                      </a:r>
                    </a:p>
                  </a:txBody>
                  <a:tcPr marR="121920" marT="76200" marB="76200" anchor="ctr">
                    <a:lnL>
                      <a:noFill/>
                    </a:lnL>
                    <a:lnR>
                      <a:noFill/>
                    </a:lnR>
                    <a:lnT>
                      <a:noFill/>
                    </a:lnT>
                    <a:lnB>
                      <a:noFill/>
                    </a:lnB>
                    <a:noFill/>
                  </a:tcPr>
                </a:tc>
                <a:tc>
                  <a:txBody>
                    <a:bodyPr/>
                    <a:lstStyle/>
                    <a:p>
                      <a:pPr algn="l">
                        <a:lnSpc>
                          <a:spcPts val="1875"/>
                        </a:lnSpc>
                        <a:buNone/>
                      </a:pPr>
                      <a:r>
                        <a:rPr lang="en-US" b="0">
                          <a:effectLst/>
                          <a:latin typeface="quote-cjk-patch"/>
                        </a:rPr>
                        <a:t>Action</a:t>
                      </a:r>
                    </a:p>
                  </a:txBody>
                  <a:tcPr marL="121920" marR="121920" marT="76200" marB="76200" anchor="ctr">
                    <a:lnL>
                      <a:noFill/>
                    </a:lnL>
                    <a:lnR>
                      <a:noFill/>
                    </a:lnR>
                    <a:lnT>
                      <a:noFill/>
                    </a:lnT>
                    <a:lnB>
                      <a:noFill/>
                    </a:lnB>
                    <a:noFill/>
                  </a:tcPr>
                </a:tc>
                <a:tc>
                  <a:txBody>
                    <a:bodyPr/>
                    <a:lstStyle/>
                    <a:p>
                      <a:pPr algn="l">
                        <a:lnSpc>
                          <a:spcPts val="1875"/>
                        </a:lnSpc>
                        <a:buNone/>
                      </a:pPr>
                      <a:r>
                        <a:rPr lang="en-US" b="0">
                          <a:effectLst/>
                          <a:latin typeface="quote-cjk-patch"/>
                        </a:rPr>
                        <a:t>Which Interview Archetype This Leads To</a:t>
                      </a:r>
                    </a:p>
                  </a:txBody>
                  <a:tcPr marL="121920" marR="121920" marT="76200" marB="76200" anchor="ctr">
                    <a:lnL>
                      <a:noFill/>
                    </a:lnL>
                    <a:lnR>
                      <a:noFill/>
                    </a:lnR>
                    <a:lnT>
                      <a:noFill/>
                    </a:lnT>
                    <a:lnB>
                      <a:noFill/>
                    </a:lnB>
                    <a:noFill/>
                  </a:tcPr>
                </a:tc>
                <a:extLst>
                  <a:ext uri="{0D108BD9-81ED-4DB2-BD59-A6C34878D82A}">
                    <a16:rowId xmlns:a16="http://schemas.microsoft.com/office/drawing/2014/main" val="1533085646"/>
                  </a:ext>
                </a:extLst>
              </a:tr>
              <a:tr h="1084719">
                <a:tc>
                  <a:txBody>
                    <a:bodyPr/>
                    <a:lstStyle/>
                    <a:p>
                      <a:pPr>
                        <a:lnSpc>
                          <a:spcPts val="1875"/>
                        </a:lnSpc>
                        <a:buNone/>
                      </a:pPr>
                      <a:r>
                        <a:rPr lang="en-US" altLang="zh-MO" b="1">
                          <a:effectLst/>
                          <a:latin typeface="quote-cjk-patch"/>
                        </a:rPr>
                        <a:t>1</a:t>
                      </a:r>
                      <a:endParaRPr lang="zh-MO" altLang="en-US" b="0">
                        <a:effectLst/>
                        <a:latin typeface="quote-cjk-patch"/>
                      </a:endParaRPr>
                    </a:p>
                  </a:txBody>
                  <a:tcPr marR="121920" marT="76200" marB="76200" anchor="ctr">
                    <a:lnL>
                      <a:noFill/>
                    </a:lnL>
                    <a:lnR>
                      <a:noFill/>
                    </a:lnR>
                    <a:lnT>
                      <a:noFill/>
                    </a:lnT>
                    <a:lnB>
                      <a:noFill/>
                    </a:lnB>
                    <a:noFill/>
                  </a:tcPr>
                </a:tc>
                <a:tc>
                  <a:txBody>
                    <a:bodyPr/>
                    <a:lstStyle/>
                    <a:p>
                      <a:pPr>
                        <a:lnSpc>
                          <a:spcPts val="1875"/>
                        </a:lnSpc>
                        <a:buNone/>
                      </a:pPr>
                      <a:r>
                        <a:rPr lang="en-US" b="0">
                          <a:effectLst/>
                          <a:latin typeface="quote-cjk-patch"/>
                        </a:rPr>
                        <a:t>Scroll past. It's late. He shouldn't spend money impulsively.</a:t>
                      </a:r>
                    </a:p>
                  </a:txBody>
                  <a:tcPr marL="121920" marR="121920" marT="76200" marB="76200" anchor="ctr">
                    <a:lnL>
                      <a:noFill/>
                    </a:lnL>
                    <a:lnR>
                      <a:noFill/>
                    </a:lnR>
                    <a:lnT>
                      <a:noFill/>
                    </a:lnT>
                    <a:lnB>
                      <a:noFill/>
                    </a:lnB>
                    <a:noFill/>
                  </a:tcPr>
                </a:tc>
                <a:tc>
                  <a:txBody>
                    <a:bodyPr/>
                    <a:lstStyle/>
                    <a:p>
                      <a:pPr>
                        <a:lnSpc>
                          <a:spcPts val="1875"/>
                        </a:lnSpc>
                        <a:buNone/>
                      </a:pPr>
                      <a:r>
                        <a:rPr lang="en-US" b="0" i="1">
                          <a:effectLst/>
                          <a:latin typeface="quote-cjk-patch"/>
                        </a:rPr>
                        <a:t>Path ends. Alex falls asleep. The question lingers unanswered.</a:t>
                      </a:r>
                      <a:endParaRPr lang="en-US" b="0">
                        <a:effectLst/>
                        <a:latin typeface="quote-cjk-patch"/>
                      </a:endParaRPr>
                    </a:p>
                  </a:txBody>
                  <a:tcPr marL="121920" marT="76200" marB="76200" anchor="ctr">
                    <a:lnL>
                      <a:noFill/>
                    </a:lnL>
                    <a:lnR>
                      <a:noFill/>
                    </a:lnR>
                    <a:lnT>
                      <a:noFill/>
                    </a:lnT>
                    <a:lnB>
                      <a:noFill/>
                    </a:lnB>
                    <a:noFill/>
                  </a:tcPr>
                </a:tc>
                <a:extLst>
                  <a:ext uri="{0D108BD9-81ED-4DB2-BD59-A6C34878D82A}">
                    <a16:rowId xmlns:a16="http://schemas.microsoft.com/office/drawing/2014/main" val="3077132290"/>
                  </a:ext>
                </a:extLst>
              </a:tr>
              <a:tr h="1084719">
                <a:tc>
                  <a:txBody>
                    <a:bodyPr/>
                    <a:lstStyle/>
                    <a:p>
                      <a:pPr>
                        <a:lnSpc>
                          <a:spcPts val="1875"/>
                        </a:lnSpc>
                        <a:buNone/>
                      </a:pPr>
                      <a:r>
                        <a:rPr lang="en-US" altLang="zh-MO" b="1" dirty="0">
                          <a:effectLst/>
                          <a:latin typeface="quote-cjk-patch"/>
                        </a:rPr>
                        <a:t>2</a:t>
                      </a:r>
                      <a:endParaRPr lang="zh-MO" altLang="en-US" b="0" dirty="0">
                        <a:effectLst/>
                        <a:latin typeface="quote-cjk-patch"/>
                      </a:endParaRPr>
                    </a:p>
                  </a:txBody>
                  <a:tcPr marR="121920" marT="76200" marB="76200" anchor="ctr">
                    <a:lnL>
                      <a:noFill/>
                    </a:lnL>
                    <a:lnR>
                      <a:noFill/>
                    </a:lnR>
                    <a:lnT>
                      <a:noFill/>
                    </a:lnT>
                    <a:lnB>
                      <a:noFill/>
                    </a:lnB>
                    <a:noFill/>
                  </a:tcPr>
                </a:tc>
                <a:tc>
                  <a:txBody>
                    <a:bodyPr/>
                    <a:lstStyle/>
                    <a:p>
                      <a:pPr>
                        <a:lnSpc>
                          <a:spcPts val="1875"/>
                        </a:lnSpc>
                        <a:buNone/>
                      </a:pPr>
                      <a:r>
                        <a:rPr lang="en-US" b="0">
                          <a:effectLst/>
                          <a:latin typeface="quote-cjk-patch"/>
                        </a:rPr>
                        <a:t>Click the link but don't subscribe. Just see what she offers.</a:t>
                      </a:r>
                    </a:p>
                  </a:txBody>
                  <a:tcPr marL="121920" marR="121920" marT="76200" marB="76200" anchor="ctr">
                    <a:lnL>
                      <a:noFill/>
                    </a:lnL>
                    <a:lnR>
                      <a:noFill/>
                    </a:lnR>
                    <a:lnT>
                      <a:noFill/>
                    </a:lnT>
                    <a:lnB>
                      <a:noFill/>
                    </a:lnB>
                    <a:noFill/>
                  </a:tcPr>
                </a:tc>
                <a:tc>
                  <a:txBody>
                    <a:bodyPr/>
                    <a:lstStyle/>
                    <a:p>
                      <a:pPr>
                        <a:lnSpc>
                          <a:spcPts val="1875"/>
                        </a:lnSpc>
                        <a:buNone/>
                      </a:pPr>
                      <a:r>
                        <a:rPr lang="en-US" b="0" i="1" dirty="0">
                          <a:effectLst/>
                          <a:latin typeface="quote-cjk-patch"/>
                        </a:rPr>
                        <a:t>Proceeds to Scene 2 – The Window Shopper</a:t>
                      </a:r>
                      <a:endParaRPr lang="en-US" b="0" dirty="0">
                        <a:effectLst/>
                        <a:latin typeface="quote-cjk-patch"/>
                      </a:endParaRPr>
                    </a:p>
                  </a:txBody>
                  <a:tcPr marL="121920" marT="76200" marB="76200" anchor="ctr">
                    <a:lnL>
                      <a:noFill/>
                    </a:lnL>
                    <a:lnR>
                      <a:noFill/>
                    </a:lnR>
                    <a:lnT>
                      <a:noFill/>
                    </a:lnT>
                    <a:lnB>
                      <a:noFill/>
                    </a:lnB>
                    <a:noFill/>
                  </a:tcPr>
                </a:tc>
                <a:extLst>
                  <a:ext uri="{0D108BD9-81ED-4DB2-BD59-A6C34878D82A}">
                    <a16:rowId xmlns:a16="http://schemas.microsoft.com/office/drawing/2014/main" val="1169679690"/>
                  </a:ext>
                </a:extLst>
              </a:tr>
              <a:tr h="1084719">
                <a:tc>
                  <a:txBody>
                    <a:bodyPr/>
                    <a:lstStyle/>
                    <a:p>
                      <a:pPr>
                        <a:lnSpc>
                          <a:spcPts val="1875"/>
                        </a:lnSpc>
                        <a:buNone/>
                      </a:pPr>
                      <a:r>
                        <a:rPr lang="en-US" altLang="zh-MO" b="1">
                          <a:effectLst/>
                          <a:latin typeface="quote-cjk-patch"/>
                        </a:rPr>
                        <a:t>3</a:t>
                      </a:r>
                      <a:endParaRPr lang="zh-MO" altLang="en-US" b="0">
                        <a:effectLst/>
                        <a:latin typeface="quote-cjk-patch"/>
                      </a:endParaRPr>
                    </a:p>
                  </a:txBody>
                  <a:tcPr marR="121920" marT="76200" marB="76200" anchor="ctr">
                    <a:lnL>
                      <a:noFill/>
                    </a:lnL>
                    <a:lnR>
                      <a:noFill/>
                    </a:lnR>
                    <a:lnT>
                      <a:noFill/>
                    </a:lnT>
                    <a:lnB>
                      <a:noFill/>
                    </a:lnB>
                    <a:noFill/>
                  </a:tcPr>
                </a:tc>
                <a:tc>
                  <a:txBody>
                    <a:bodyPr/>
                    <a:lstStyle/>
                    <a:p>
                      <a:pPr>
                        <a:lnSpc>
                          <a:spcPts val="1875"/>
                        </a:lnSpc>
                        <a:buNone/>
                      </a:pPr>
                      <a:r>
                        <a:rPr lang="en-US" b="0">
                          <a:effectLst/>
                          <a:latin typeface="quote-cjk-patch"/>
                        </a:rPr>
                        <a:t>Subscribe. It's $12. He's curious what she would say to him.</a:t>
                      </a:r>
                    </a:p>
                  </a:txBody>
                  <a:tcPr marL="121920" marR="121920" marT="76200" marB="76200" anchor="ctr">
                    <a:lnL>
                      <a:noFill/>
                    </a:lnL>
                    <a:lnR>
                      <a:noFill/>
                    </a:lnR>
                    <a:lnT>
                      <a:noFill/>
                    </a:lnT>
                    <a:lnB>
                      <a:noFill/>
                    </a:lnB>
                    <a:noFill/>
                  </a:tcPr>
                </a:tc>
                <a:tc>
                  <a:txBody>
                    <a:bodyPr/>
                    <a:lstStyle/>
                    <a:p>
                      <a:pPr>
                        <a:lnSpc>
                          <a:spcPts val="1875"/>
                        </a:lnSpc>
                        <a:buNone/>
                      </a:pPr>
                      <a:r>
                        <a:rPr lang="en-US" b="0" i="1" dirty="0">
                          <a:effectLst/>
                          <a:latin typeface="quote-cjk-patch"/>
                        </a:rPr>
                        <a:t>Proceeds to Scene 3 – The First Message</a:t>
                      </a:r>
                      <a:endParaRPr lang="en-US" b="0" dirty="0">
                        <a:effectLst/>
                        <a:latin typeface="quote-cjk-patch"/>
                      </a:endParaRPr>
                    </a:p>
                  </a:txBody>
                  <a:tcPr marL="121920" marT="76200" marB="76200" anchor="ctr">
                    <a:lnL>
                      <a:noFill/>
                    </a:lnL>
                    <a:lnR>
                      <a:noFill/>
                    </a:lnR>
                    <a:lnT>
                      <a:noFill/>
                    </a:lnT>
                    <a:lnB>
                      <a:noFill/>
                    </a:lnB>
                    <a:noFill/>
                  </a:tcPr>
                </a:tc>
                <a:extLst>
                  <a:ext uri="{0D108BD9-81ED-4DB2-BD59-A6C34878D82A}">
                    <a16:rowId xmlns:a16="http://schemas.microsoft.com/office/drawing/2014/main" val="3605851894"/>
                  </a:ext>
                </a:extLst>
              </a:tr>
            </a:tbl>
          </a:graphicData>
        </a:graphic>
      </p:graphicFrame>
    </p:spTree>
    <p:extLst>
      <p:ext uri="{BB962C8B-B14F-4D97-AF65-F5344CB8AC3E}">
        <p14:creationId xmlns:p14="http://schemas.microsoft.com/office/powerpoint/2010/main" val="2715863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F677F3-A724-35D4-5B3F-5433D3B7552D}"/>
              </a:ext>
            </a:extLst>
          </p:cNvPr>
          <p:cNvSpPr>
            <a:spLocks noGrp="1"/>
          </p:cNvSpPr>
          <p:nvPr>
            <p:ph type="title"/>
          </p:nvPr>
        </p:nvSpPr>
        <p:spPr/>
        <p:txBody>
          <a:bodyPr>
            <a:normAutofit fontScale="90000"/>
          </a:bodyPr>
          <a:lstStyle/>
          <a:p>
            <a:r>
              <a:rPr lang="zh-MO" altLang="zh-MO" b="1" dirty="0">
                <a:solidFill>
                  <a:srgbClr val="0F1115"/>
                </a:solidFill>
                <a:latin typeface="Arial" panose="020B0604020202020204" pitchFamily="34" charset="0"/>
                <a:ea typeface="quote-cjk-patch"/>
              </a:rPr>
              <a:t>Audience Choice A – What does Alex do?</a:t>
            </a:r>
            <a:br>
              <a:rPr kumimoji="0" lang="zh-MO" altLang="zh-MO" sz="2400" b="0" i="0" u="none" strike="noStrike" cap="none" normalizeH="0" baseline="0" dirty="0">
                <a:ln>
                  <a:noFill/>
                </a:ln>
                <a:solidFill>
                  <a:schemeClr val="tx1"/>
                </a:solidFill>
                <a:effectLst/>
                <a:latin typeface="Arial" panose="020B0604020202020204" pitchFamily="34" charset="0"/>
              </a:rPr>
            </a:br>
            <a:endParaRPr lang="zh-MO" altLang="en-US" dirty="0"/>
          </a:p>
        </p:txBody>
      </p:sp>
      <p:sp>
        <p:nvSpPr>
          <p:cNvPr id="3" name="內容版面配置區 2">
            <a:extLst>
              <a:ext uri="{FF2B5EF4-FFF2-40B4-BE49-F238E27FC236}">
                <a16:creationId xmlns:a16="http://schemas.microsoft.com/office/drawing/2014/main" id="{102300C1-35B6-2D8A-F1C0-B99ADAC3A7FD}"/>
              </a:ext>
            </a:extLst>
          </p:cNvPr>
          <p:cNvSpPr>
            <a:spLocks noGrp="1"/>
          </p:cNvSpPr>
          <p:nvPr>
            <p:ph idx="1"/>
          </p:nvPr>
        </p:nvSpPr>
        <p:spPr/>
        <p:txBody>
          <a:bodyPr/>
          <a:lstStyle/>
          <a:p>
            <a:r>
              <a:rPr lang="en-US" altLang="zh-MO" b="1" dirty="0"/>
              <a:t>Scene 2: The Window Shopper</a:t>
            </a:r>
          </a:p>
          <a:p>
            <a:r>
              <a:rPr lang="en-US" altLang="zh-MO" b="1" dirty="0"/>
              <a:t>Setting:</a:t>
            </a:r>
            <a:r>
              <a:rPr lang="en-US" altLang="zh-MO" dirty="0"/>
              <a:t> Alex clicks the link. The preview page shows a grid of photos—some suggestive, some surprisingly mundane: her making coffee, her laughing at a cat video, her in workout clothes. The captions are casual, like she's talking to a friend.</a:t>
            </a:r>
          </a:p>
          <a:p>
            <a:r>
              <a:rPr lang="en-US" altLang="zh-MO" dirty="0"/>
              <a:t>One pinned post says: </a:t>
            </a:r>
            <a:r>
              <a:rPr lang="en-US" altLang="zh-MO" i="1" dirty="0"/>
              <a:t>"I reply to every DM within 24 hours. Tell me something about your day."</a:t>
            </a:r>
            <a:endParaRPr lang="en-US" altLang="zh-MO" dirty="0"/>
          </a:p>
          <a:p>
            <a:r>
              <a:rPr lang="en-US" altLang="zh-MO" dirty="0"/>
              <a:t>Alex stares at the subscribe button.</a:t>
            </a:r>
          </a:p>
          <a:p>
            <a:endParaRPr lang="zh-MO" altLang="en-US" dirty="0"/>
          </a:p>
        </p:txBody>
      </p:sp>
    </p:spTree>
    <p:extLst>
      <p:ext uri="{BB962C8B-B14F-4D97-AF65-F5344CB8AC3E}">
        <p14:creationId xmlns:p14="http://schemas.microsoft.com/office/powerpoint/2010/main" val="435020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235BA8-6592-8817-DA57-30A153D1E205}"/>
              </a:ext>
            </a:extLst>
          </p:cNvPr>
          <p:cNvSpPr>
            <a:spLocks noGrp="1"/>
          </p:cNvSpPr>
          <p:nvPr>
            <p:ph type="title"/>
          </p:nvPr>
        </p:nvSpPr>
        <p:spPr/>
        <p:txBody>
          <a:bodyPr/>
          <a:lstStyle/>
          <a:p>
            <a:endParaRPr lang="zh-MO" altLang="en-US"/>
          </a:p>
        </p:txBody>
      </p:sp>
      <p:graphicFrame>
        <p:nvGraphicFramePr>
          <p:cNvPr id="4" name="內容版面配置區 3">
            <a:extLst>
              <a:ext uri="{FF2B5EF4-FFF2-40B4-BE49-F238E27FC236}">
                <a16:creationId xmlns:a16="http://schemas.microsoft.com/office/drawing/2014/main" id="{E992C3AA-AF43-93AE-5785-8804F5596E49}"/>
              </a:ext>
            </a:extLst>
          </p:cNvPr>
          <p:cNvGraphicFramePr>
            <a:graphicFrameLocks noGrp="1"/>
          </p:cNvGraphicFramePr>
          <p:nvPr>
            <p:ph idx="1"/>
            <p:extLst>
              <p:ext uri="{D42A27DB-BD31-4B8C-83A1-F6EECF244321}">
                <p14:modId xmlns:p14="http://schemas.microsoft.com/office/powerpoint/2010/main" val="2331051313"/>
              </p:ext>
            </p:extLst>
          </p:nvPr>
        </p:nvGraphicFramePr>
        <p:xfrm>
          <a:off x="838200" y="2204244"/>
          <a:ext cx="10165080" cy="3028156"/>
        </p:xfrm>
        <a:graphic>
          <a:graphicData uri="http://schemas.openxmlformats.org/drawingml/2006/table">
            <a:tbl>
              <a:tblPr/>
              <a:tblGrid>
                <a:gridCol w="3388360">
                  <a:extLst>
                    <a:ext uri="{9D8B030D-6E8A-4147-A177-3AD203B41FA5}">
                      <a16:colId xmlns:a16="http://schemas.microsoft.com/office/drawing/2014/main" val="696236102"/>
                    </a:ext>
                  </a:extLst>
                </a:gridCol>
                <a:gridCol w="3388360">
                  <a:extLst>
                    <a:ext uri="{9D8B030D-6E8A-4147-A177-3AD203B41FA5}">
                      <a16:colId xmlns:a16="http://schemas.microsoft.com/office/drawing/2014/main" val="3459850968"/>
                    </a:ext>
                  </a:extLst>
                </a:gridCol>
                <a:gridCol w="3388360">
                  <a:extLst>
                    <a:ext uri="{9D8B030D-6E8A-4147-A177-3AD203B41FA5}">
                      <a16:colId xmlns:a16="http://schemas.microsoft.com/office/drawing/2014/main" val="4023524570"/>
                    </a:ext>
                  </a:extLst>
                </a:gridCol>
              </a:tblGrid>
              <a:tr h="895904">
                <a:tc>
                  <a:txBody>
                    <a:bodyPr/>
                    <a:lstStyle/>
                    <a:p>
                      <a:pPr algn="l">
                        <a:lnSpc>
                          <a:spcPts val="1875"/>
                        </a:lnSpc>
                        <a:buNone/>
                      </a:pPr>
                      <a:r>
                        <a:rPr lang="en-US" b="0">
                          <a:effectLst/>
                          <a:latin typeface="quote-cjk-patch"/>
                        </a:rPr>
                        <a:t>Option</a:t>
                      </a:r>
                    </a:p>
                  </a:txBody>
                  <a:tcPr marR="121920" marT="76200" marB="76200" anchor="ctr">
                    <a:lnL>
                      <a:noFill/>
                    </a:lnL>
                    <a:lnR>
                      <a:noFill/>
                    </a:lnR>
                    <a:lnT>
                      <a:noFill/>
                    </a:lnT>
                    <a:lnB>
                      <a:noFill/>
                    </a:lnB>
                    <a:noFill/>
                  </a:tcPr>
                </a:tc>
                <a:tc>
                  <a:txBody>
                    <a:bodyPr/>
                    <a:lstStyle/>
                    <a:p>
                      <a:pPr algn="l">
                        <a:lnSpc>
                          <a:spcPts val="1875"/>
                        </a:lnSpc>
                        <a:buNone/>
                      </a:pPr>
                      <a:r>
                        <a:rPr lang="en-US" b="0">
                          <a:effectLst/>
                          <a:latin typeface="quote-cjk-patch"/>
                        </a:rPr>
                        <a:t>Action</a:t>
                      </a:r>
                    </a:p>
                  </a:txBody>
                  <a:tcPr marL="121920" marR="121920" marT="76200" marB="76200" anchor="ctr">
                    <a:lnL>
                      <a:noFill/>
                    </a:lnL>
                    <a:lnR>
                      <a:noFill/>
                    </a:lnR>
                    <a:lnT>
                      <a:noFill/>
                    </a:lnT>
                    <a:lnB>
                      <a:noFill/>
                    </a:lnB>
                    <a:noFill/>
                  </a:tcPr>
                </a:tc>
                <a:tc>
                  <a:txBody>
                    <a:bodyPr/>
                    <a:lstStyle/>
                    <a:p>
                      <a:pPr algn="l">
                        <a:lnSpc>
                          <a:spcPts val="1875"/>
                        </a:lnSpc>
                        <a:buNone/>
                      </a:pPr>
                      <a:r>
                        <a:rPr lang="en-US" b="0">
                          <a:effectLst/>
                          <a:latin typeface="quote-cjk-patch"/>
                        </a:rPr>
                        <a:t>Which Interview Archetype This Leads To</a:t>
                      </a:r>
                    </a:p>
                  </a:txBody>
                  <a:tcPr marL="121920" marR="121920" marT="76200" marB="76200" anchor="ctr">
                    <a:lnL>
                      <a:noFill/>
                    </a:lnL>
                    <a:lnR>
                      <a:noFill/>
                    </a:lnR>
                    <a:lnT>
                      <a:noFill/>
                    </a:lnT>
                    <a:lnB>
                      <a:noFill/>
                    </a:lnB>
                    <a:noFill/>
                  </a:tcPr>
                </a:tc>
                <a:extLst>
                  <a:ext uri="{0D108BD9-81ED-4DB2-BD59-A6C34878D82A}">
                    <a16:rowId xmlns:a16="http://schemas.microsoft.com/office/drawing/2014/main" val="2676419387"/>
                  </a:ext>
                </a:extLst>
              </a:tr>
              <a:tr h="895904">
                <a:tc>
                  <a:txBody>
                    <a:bodyPr/>
                    <a:lstStyle/>
                    <a:p>
                      <a:pPr>
                        <a:lnSpc>
                          <a:spcPts val="1875"/>
                        </a:lnSpc>
                        <a:buNone/>
                      </a:pPr>
                      <a:r>
                        <a:rPr lang="en-US" altLang="zh-MO" b="1">
                          <a:effectLst/>
                          <a:latin typeface="quote-cjk-patch"/>
                        </a:rPr>
                        <a:t>1</a:t>
                      </a:r>
                      <a:endParaRPr lang="zh-MO" altLang="en-US" b="0">
                        <a:effectLst/>
                        <a:latin typeface="quote-cjk-patch"/>
                      </a:endParaRPr>
                    </a:p>
                  </a:txBody>
                  <a:tcPr marR="121920" marT="76200" marB="76200" anchor="ctr">
                    <a:lnL>
                      <a:noFill/>
                    </a:lnL>
                    <a:lnR>
                      <a:noFill/>
                    </a:lnR>
                    <a:lnT>
                      <a:noFill/>
                    </a:lnT>
                    <a:lnB>
                      <a:noFill/>
                    </a:lnB>
                    <a:noFill/>
                  </a:tcPr>
                </a:tc>
                <a:tc>
                  <a:txBody>
                    <a:bodyPr/>
                    <a:lstStyle/>
                    <a:p>
                      <a:pPr>
                        <a:lnSpc>
                          <a:spcPts val="1875"/>
                        </a:lnSpc>
                        <a:buNone/>
                      </a:pPr>
                      <a:r>
                        <a:rPr lang="en-US" b="0">
                          <a:effectLst/>
                          <a:latin typeface="quote-cjk-patch"/>
                        </a:rPr>
                        <a:t>Subscribe. That DM promise got him. He wants to be seen.</a:t>
                      </a:r>
                    </a:p>
                  </a:txBody>
                  <a:tcPr marL="121920" marR="121920" marT="76200" marB="76200" anchor="ctr">
                    <a:lnL>
                      <a:noFill/>
                    </a:lnL>
                    <a:lnR>
                      <a:noFill/>
                    </a:lnR>
                    <a:lnT>
                      <a:noFill/>
                    </a:lnT>
                    <a:lnB>
                      <a:noFill/>
                    </a:lnB>
                    <a:noFill/>
                  </a:tcPr>
                </a:tc>
                <a:tc>
                  <a:txBody>
                    <a:bodyPr/>
                    <a:lstStyle/>
                    <a:p>
                      <a:pPr>
                        <a:lnSpc>
                          <a:spcPts val="1875"/>
                        </a:lnSpc>
                        <a:buNone/>
                      </a:pPr>
                      <a:r>
                        <a:rPr lang="en-US" b="0" i="1">
                          <a:effectLst/>
                          <a:latin typeface="quote-cjk-patch"/>
                        </a:rPr>
                        <a:t>Proceeds to Scene 3 – The First Message</a:t>
                      </a:r>
                      <a:endParaRPr lang="en-US" b="0">
                        <a:effectLst/>
                        <a:latin typeface="quote-cjk-patch"/>
                      </a:endParaRPr>
                    </a:p>
                  </a:txBody>
                  <a:tcPr marL="121920" marT="76200" marB="76200" anchor="ctr">
                    <a:lnL>
                      <a:noFill/>
                    </a:lnL>
                    <a:lnR>
                      <a:noFill/>
                    </a:lnR>
                    <a:lnT>
                      <a:noFill/>
                    </a:lnT>
                    <a:lnB>
                      <a:noFill/>
                    </a:lnB>
                    <a:noFill/>
                  </a:tcPr>
                </a:tc>
                <a:extLst>
                  <a:ext uri="{0D108BD9-81ED-4DB2-BD59-A6C34878D82A}">
                    <a16:rowId xmlns:a16="http://schemas.microsoft.com/office/drawing/2014/main" val="3707921868"/>
                  </a:ext>
                </a:extLst>
              </a:tr>
              <a:tr h="1236348">
                <a:tc>
                  <a:txBody>
                    <a:bodyPr/>
                    <a:lstStyle/>
                    <a:p>
                      <a:pPr>
                        <a:lnSpc>
                          <a:spcPts val="1875"/>
                        </a:lnSpc>
                        <a:buNone/>
                      </a:pPr>
                      <a:r>
                        <a:rPr lang="en-US" altLang="zh-MO" b="1">
                          <a:effectLst/>
                          <a:latin typeface="quote-cjk-patch"/>
                        </a:rPr>
                        <a:t>2</a:t>
                      </a:r>
                      <a:endParaRPr lang="zh-MO" altLang="en-US" b="0">
                        <a:effectLst/>
                        <a:latin typeface="quote-cjk-patch"/>
                      </a:endParaRPr>
                    </a:p>
                  </a:txBody>
                  <a:tcPr marR="121920" marT="76200" marB="76200" anchor="ctr">
                    <a:lnL>
                      <a:noFill/>
                    </a:lnL>
                    <a:lnR>
                      <a:noFill/>
                    </a:lnR>
                    <a:lnT>
                      <a:noFill/>
                    </a:lnT>
                    <a:lnB>
                      <a:noFill/>
                    </a:lnB>
                    <a:noFill/>
                  </a:tcPr>
                </a:tc>
                <a:tc>
                  <a:txBody>
                    <a:bodyPr/>
                    <a:lstStyle/>
                    <a:p>
                      <a:pPr>
                        <a:lnSpc>
                          <a:spcPts val="1875"/>
                        </a:lnSpc>
                        <a:buNone/>
                      </a:pPr>
                      <a:r>
                        <a:rPr lang="en-US" b="0">
                          <a:effectLst/>
                          <a:latin typeface="quote-cjk-patch"/>
                        </a:rPr>
                        <a:t>Close the tab. This feels like a trap designed for lonely people. He's not that lonely.</a:t>
                      </a:r>
                    </a:p>
                  </a:txBody>
                  <a:tcPr marL="121920" marR="121920" marT="76200" marB="76200" anchor="ctr">
                    <a:lnL>
                      <a:noFill/>
                    </a:lnL>
                    <a:lnR>
                      <a:noFill/>
                    </a:lnR>
                    <a:lnT>
                      <a:noFill/>
                    </a:lnT>
                    <a:lnB>
                      <a:noFill/>
                    </a:lnB>
                    <a:noFill/>
                  </a:tcPr>
                </a:tc>
                <a:tc>
                  <a:txBody>
                    <a:bodyPr/>
                    <a:lstStyle/>
                    <a:p>
                      <a:pPr>
                        <a:lnSpc>
                          <a:spcPts val="1875"/>
                        </a:lnSpc>
                        <a:buNone/>
                      </a:pPr>
                      <a:r>
                        <a:rPr lang="en-US" b="0" i="1" dirty="0">
                          <a:effectLst/>
                          <a:latin typeface="quote-cjk-patch"/>
                        </a:rPr>
                        <a:t>Ending 1: The Skeptic</a:t>
                      </a:r>
                      <a:endParaRPr lang="en-US" b="0" dirty="0">
                        <a:effectLst/>
                        <a:latin typeface="quote-cjk-patch"/>
                      </a:endParaRPr>
                    </a:p>
                  </a:txBody>
                  <a:tcPr marL="121920" marT="76200" marB="76200" anchor="ctr">
                    <a:lnL>
                      <a:noFill/>
                    </a:lnL>
                    <a:lnR>
                      <a:noFill/>
                    </a:lnR>
                    <a:lnT>
                      <a:noFill/>
                    </a:lnT>
                    <a:lnB>
                      <a:noFill/>
                    </a:lnB>
                    <a:noFill/>
                  </a:tcPr>
                </a:tc>
                <a:extLst>
                  <a:ext uri="{0D108BD9-81ED-4DB2-BD59-A6C34878D82A}">
                    <a16:rowId xmlns:a16="http://schemas.microsoft.com/office/drawing/2014/main" val="4206607344"/>
                  </a:ext>
                </a:extLst>
              </a:tr>
            </a:tbl>
          </a:graphicData>
        </a:graphic>
      </p:graphicFrame>
      <p:sp>
        <p:nvSpPr>
          <p:cNvPr id="5" name="Rectangle 1">
            <a:extLst>
              <a:ext uri="{FF2B5EF4-FFF2-40B4-BE49-F238E27FC236}">
                <a16:creationId xmlns:a16="http://schemas.microsoft.com/office/drawing/2014/main" id="{D70A45C7-5723-A5C8-8E63-CC69221959BA}"/>
              </a:ext>
            </a:extLst>
          </p:cNvPr>
          <p:cNvSpPr>
            <a:spLocks noChangeArrowheads="1"/>
          </p:cNvSpPr>
          <p:nvPr/>
        </p:nvSpPr>
        <p:spPr bwMode="auto">
          <a:xfrm>
            <a:off x="-5090809" y="-48399"/>
            <a:ext cx="21627829"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MO" altLang="zh-MO" sz="1200" b="1" i="0" u="none" strike="noStrike" cap="none" normalizeH="0" baseline="0">
                <a:ln>
                  <a:noFill/>
                </a:ln>
                <a:solidFill>
                  <a:srgbClr val="0F1115"/>
                </a:solidFill>
                <a:effectLst/>
                <a:latin typeface="Arial" panose="020B0604020202020204" pitchFamily="34" charset="0"/>
                <a:ea typeface="quote-cjk-patch"/>
              </a:rPr>
              <a:t>Audience Choice B – What does Alex do?</a:t>
            </a:r>
            <a:endParaRPr kumimoji="0" lang="zh-MO" altLang="zh-MO"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MO" altLang="zh-MO"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33613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829FE2-7F3D-0DE0-1723-E05BC8D3DFE1}"/>
              </a:ext>
            </a:extLst>
          </p:cNvPr>
          <p:cNvSpPr>
            <a:spLocks noGrp="1"/>
          </p:cNvSpPr>
          <p:nvPr>
            <p:ph type="title"/>
          </p:nvPr>
        </p:nvSpPr>
        <p:spPr/>
        <p:txBody>
          <a:bodyPr/>
          <a:lstStyle/>
          <a:p>
            <a:endParaRPr lang="zh-MO" altLang="en-US"/>
          </a:p>
        </p:txBody>
      </p:sp>
      <p:sp>
        <p:nvSpPr>
          <p:cNvPr id="3" name="內容版面配置區 2">
            <a:extLst>
              <a:ext uri="{FF2B5EF4-FFF2-40B4-BE49-F238E27FC236}">
                <a16:creationId xmlns:a16="http://schemas.microsoft.com/office/drawing/2014/main" id="{EC566DB4-68B0-009C-2F65-B00395C0D613}"/>
              </a:ext>
            </a:extLst>
          </p:cNvPr>
          <p:cNvSpPr>
            <a:spLocks noGrp="1"/>
          </p:cNvSpPr>
          <p:nvPr>
            <p:ph idx="1"/>
          </p:nvPr>
        </p:nvSpPr>
        <p:spPr/>
        <p:txBody>
          <a:bodyPr>
            <a:normAutofit lnSpcReduction="10000"/>
          </a:bodyPr>
          <a:lstStyle/>
          <a:p>
            <a:r>
              <a:rPr lang="en-US" altLang="zh-MO" b="1" dirty="0"/>
              <a:t>Scene 3: The First Message</a:t>
            </a:r>
          </a:p>
          <a:p>
            <a:r>
              <a:rPr lang="en-US" altLang="zh-MO" b="1" dirty="0"/>
              <a:t>Setting:</a:t>
            </a:r>
            <a:r>
              <a:rPr lang="en-US" altLang="zh-MO" dirty="0"/>
              <a:t> Alex subscribes. Within minutes, he receives an automated welcome message with a link to the free video. He watches it. It's fine.</a:t>
            </a:r>
          </a:p>
          <a:p>
            <a:r>
              <a:rPr lang="en-US" altLang="zh-MO" dirty="0"/>
              <a:t>But then, two hours later, another message appears:</a:t>
            </a:r>
          </a:p>
          <a:p>
            <a:r>
              <a:rPr lang="en-US" altLang="zh-MO" i="1" dirty="0"/>
              <a:t>"Hey Alex! Thanks for subbing. I saw you're into retro gaming from your Twitter. I just finished Chrono Trigger for the first time. What's your favorite?"</a:t>
            </a:r>
            <a:endParaRPr lang="en-US" altLang="zh-MO" dirty="0"/>
          </a:p>
          <a:p>
            <a:r>
              <a:rPr lang="en-US" altLang="zh-MO" dirty="0"/>
              <a:t>Alex is startled. She looked at his profile. She mentioned something specific. She asked him a real question.</a:t>
            </a:r>
          </a:p>
          <a:p>
            <a:endParaRPr lang="zh-MO" altLang="en-US" dirty="0"/>
          </a:p>
        </p:txBody>
      </p:sp>
    </p:spTree>
    <p:extLst>
      <p:ext uri="{BB962C8B-B14F-4D97-AF65-F5344CB8AC3E}">
        <p14:creationId xmlns:p14="http://schemas.microsoft.com/office/powerpoint/2010/main" val="1688657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B4569F-7AB5-2C5B-1527-1CAF52250307}"/>
              </a:ext>
            </a:extLst>
          </p:cNvPr>
          <p:cNvSpPr>
            <a:spLocks noGrp="1"/>
          </p:cNvSpPr>
          <p:nvPr>
            <p:ph type="title"/>
          </p:nvPr>
        </p:nvSpPr>
        <p:spPr/>
        <p:txBody>
          <a:bodyPr/>
          <a:lstStyle/>
          <a:p>
            <a:r>
              <a:rPr lang="en-US" altLang="zh-MO" b="1" dirty="0"/>
              <a:t>Audience Choice C – How does Alex respond?</a:t>
            </a:r>
            <a:endParaRPr lang="zh-MO" altLang="en-US" dirty="0"/>
          </a:p>
        </p:txBody>
      </p:sp>
      <p:graphicFrame>
        <p:nvGraphicFramePr>
          <p:cNvPr id="4" name="內容版面配置區 3">
            <a:extLst>
              <a:ext uri="{FF2B5EF4-FFF2-40B4-BE49-F238E27FC236}">
                <a16:creationId xmlns:a16="http://schemas.microsoft.com/office/drawing/2014/main" id="{55D852B2-5361-1AF9-9F5D-99BFE4E96945}"/>
              </a:ext>
            </a:extLst>
          </p:cNvPr>
          <p:cNvGraphicFramePr>
            <a:graphicFrameLocks noGrp="1"/>
          </p:cNvGraphicFramePr>
          <p:nvPr>
            <p:ph idx="1"/>
            <p:extLst>
              <p:ext uri="{D42A27DB-BD31-4B8C-83A1-F6EECF244321}">
                <p14:modId xmlns:p14="http://schemas.microsoft.com/office/powerpoint/2010/main" val="1053675822"/>
              </p:ext>
            </p:extLst>
          </p:nvPr>
        </p:nvGraphicFramePr>
        <p:xfrm>
          <a:off x="1463040" y="1952962"/>
          <a:ext cx="9265920" cy="4351339"/>
        </p:xfrm>
        <a:graphic>
          <a:graphicData uri="http://schemas.openxmlformats.org/drawingml/2006/table">
            <a:tbl>
              <a:tblPr/>
              <a:tblGrid>
                <a:gridCol w="3088640">
                  <a:extLst>
                    <a:ext uri="{9D8B030D-6E8A-4147-A177-3AD203B41FA5}">
                      <a16:colId xmlns:a16="http://schemas.microsoft.com/office/drawing/2014/main" val="3535076997"/>
                    </a:ext>
                  </a:extLst>
                </a:gridCol>
                <a:gridCol w="3088640">
                  <a:extLst>
                    <a:ext uri="{9D8B030D-6E8A-4147-A177-3AD203B41FA5}">
                      <a16:colId xmlns:a16="http://schemas.microsoft.com/office/drawing/2014/main" val="1937567895"/>
                    </a:ext>
                  </a:extLst>
                </a:gridCol>
                <a:gridCol w="3088640">
                  <a:extLst>
                    <a:ext uri="{9D8B030D-6E8A-4147-A177-3AD203B41FA5}">
                      <a16:colId xmlns:a16="http://schemas.microsoft.com/office/drawing/2014/main" val="3876480981"/>
                    </a:ext>
                  </a:extLst>
                </a:gridCol>
              </a:tblGrid>
              <a:tr h="671683">
                <a:tc>
                  <a:txBody>
                    <a:bodyPr/>
                    <a:lstStyle/>
                    <a:p>
                      <a:pPr algn="l">
                        <a:lnSpc>
                          <a:spcPts val="1875"/>
                        </a:lnSpc>
                        <a:buNone/>
                      </a:pPr>
                      <a:r>
                        <a:rPr lang="en-US" sz="1400" b="0">
                          <a:effectLst/>
                          <a:latin typeface="quote-cjk-patch"/>
                        </a:rPr>
                        <a:t>Option</a:t>
                      </a:r>
                    </a:p>
                  </a:txBody>
                  <a:tcPr marL="70089" marR="93452" marT="58407" marB="58407" anchor="ctr">
                    <a:lnL>
                      <a:noFill/>
                    </a:lnL>
                    <a:lnR>
                      <a:noFill/>
                    </a:lnR>
                    <a:lnT>
                      <a:noFill/>
                    </a:lnT>
                    <a:lnB>
                      <a:noFill/>
                    </a:lnB>
                    <a:noFill/>
                  </a:tcPr>
                </a:tc>
                <a:tc>
                  <a:txBody>
                    <a:bodyPr/>
                    <a:lstStyle/>
                    <a:p>
                      <a:pPr algn="l">
                        <a:lnSpc>
                          <a:spcPts val="1875"/>
                        </a:lnSpc>
                        <a:buNone/>
                      </a:pPr>
                      <a:r>
                        <a:rPr lang="en-US" sz="1400" b="0">
                          <a:effectLst/>
                          <a:latin typeface="quote-cjk-patch"/>
                        </a:rPr>
                        <a:t>Action</a:t>
                      </a:r>
                    </a:p>
                  </a:txBody>
                  <a:tcPr marL="93452" marR="93452" marT="58407" marB="58407" anchor="ctr">
                    <a:lnL>
                      <a:noFill/>
                    </a:lnL>
                    <a:lnR>
                      <a:noFill/>
                    </a:lnR>
                    <a:lnT>
                      <a:noFill/>
                    </a:lnT>
                    <a:lnB>
                      <a:noFill/>
                    </a:lnB>
                    <a:noFill/>
                  </a:tcPr>
                </a:tc>
                <a:tc>
                  <a:txBody>
                    <a:bodyPr/>
                    <a:lstStyle/>
                    <a:p>
                      <a:pPr algn="l">
                        <a:lnSpc>
                          <a:spcPts val="1875"/>
                        </a:lnSpc>
                        <a:buNone/>
                      </a:pPr>
                      <a:r>
                        <a:rPr lang="en-US" sz="1400" b="0">
                          <a:effectLst/>
                          <a:latin typeface="quote-cjk-patch"/>
                        </a:rPr>
                        <a:t>Which Interview Archetype This Leads To</a:t>
                      </a:r>
                    </a:p>
                  </a:txBody>
                  <a:tcPr marL="93452" marR="93452" marT="58407" marB="58407" anchor="ctr">
                    <a:lnL>
                      <a:noFill/>
                    </a:lnL>
                    <a:lnR>
                      <a:noFill/>
                    </a:lnR>
                    <a:lnT>
                      <a:noFill/>
                    </a:lnT>
                    <a:lnB>
                      <a:noFill/>
                    </a:lnB>
                    <a:noFill/>
                  </a:tcPr>
                </a:tc>
                <a:extLst>
                  <a:ext uri="{0D108BD9-81ED-4DB2-BD59-A6C34878D82A}">
                    <a16:rowId xmlns:a16="http://schemas.microsoft.com/office/drawing/2014/main" val="2732666534"/>
                  </a:ext>
                </a:extLst>
              </a:tr>
              <a:tr h="1226552">
                <a:tc>
                  <a:txBody>
                    <a:bodyPr/>
                    <a:lstStyle/>
                    <a:p>
                      <a:pPr>
                        <a:lnSpc>
                          <a:spcPts val="1875"/>
                        </a:lnSpc>
                        <a:buNone/>
                      </a:pPr>
                      <a:r>
                        <a:rPr lang="en-US" altLang="zh-MO" sz="1400" b="1">
                          <a:effectLst/>
                          <a:latin typeface="quote-cjk-patch"/>
                        </a:rPr>
                        <a:t>1</a:t>
                      </a:r>
                      <a:endParaRPr lang="zh-MO" altLang="en-US" sz="1400" b="0">
                        <a:effectLst/>
                        <a:latin typeface="quote-cjk-patch"/>
                      </a:endParaRPr>
                    </a:p>
                  </a:txBody>
                  <a:tcPr marL="70089" marR="93452" marT="58407" marB="58407" anchor="ctr">
                    <a:lnL>
                      <a:noFill/>
                    </a:lnL>
                    <a:lnR>
                      <a:noFill/>
                    </a:lnR>
                    <a:lnT>
                      <a:noFill/>
                    </a:lnT>
                    <a:lnB>
                      <a:noFill/>
                    </a:lnB>
                    <a:noFill/>
                  </a:tcPr>
                </a:tc>
                <a:tc>
                  <a:txBody>
                    <a:bodyPr/>
                    <a:lstStyle/>
                    <a:p>
                      <a:pPr>
                        <a:lnSpc>
                          <a:spcPts val="1875"/>
                        </a:lnSpc>
                        <a:buNone/>
                      </a:pPr>
                      <a:r>
                        <a:rPr lang="en-US" sz="1400" b="0">
                          <a:effectLst/>
                          <a:latin typeface="quote-cjk-patch"/>
                        </a:rPr>
                        <a:t>Respond enthusiastically. Tell her about his favorite game. Share why it matters to him.</a:t>
                      </a:r>
                    </a:p>
                  </a:txBody>
                  <a:tcPr marL="93452" marR="93452" marT="58407" marB="58407" anchor="ctr">
                    <a:lnL>
                      <a:noFill/>
                    </a:lnL>
                    <a:lnR>
                      <a:noFill/>
                    </a:lnR>
                    <a:lnT>
                      <a:noFill/>
                    </a:lnT>
                    <a:lnB>
                      <a:noFill/>
                    </a:lnB>
                    <a:noFill/>
                  </a:tcPr>
                </a:tc>
                <a:tc>
                  <a:txBody>
                    <a:bodyPr/>
                    <a:lstStyle/>
                    <a:p>
                      <a:pPr>
                        <a:lnSpc>
                          <a:spcPts val="1875"/>
                        </a:lnSpc>
                        <a:buNone/>
                      </a:pPr>
                      <a:r>
                        <a:rPr lang="en-US" sz="1400" b="0" i="1">
                          <a:effectLst/>
                          <a:latin typeface="quote-cjk-patch"/>
                        </a:rPr>
                        <a:t>Proceeds to Scene 4 – The Bond Deepens (Romantic Seeker)</a:t>
                      </a:r>
                      <a:endParaRPr lang="en-US" sz="1400" b="0">
                        <a:effectLst/>
                        <a:latin typeface="quote-cjk-patch"/>
                      </a:endParaRPr>
                    </a:p>
                  </a:txBody>
                  <a:tcPr marL="93452" marR="70089" marT="58407" marB="58407" anchor="ctr">
                    <a:lnL>
                      <a:noFill/>
                    </a:lnL>
                    <a:lnR>
                      <a:noFill/>
                    </a:lnR>
                    <a:lnT>
                      <a:noFill/>
                    </a:lnT>
                    <a:lnB>
                      <a:noFill/>
                    </a:lnB>
                    <a:noFill/>
                  </a:tcPr>
                </a:tc>
                <a:extLst>
                  <a:ext uri="{0D108BD9-81ED-4DB2-BD59-A6C34878D82A}">
                    <a16:rowId xmlns:a16="http://schemas.microsoft.com/office/drawing/2014/main" val="3204376152"/>
                  </a:ext>
                </a:extLst>
              </a:tr>
              <a:tr h="1226552">
                <a:tc>
                  <a:txBody>
                    <a:bodyPr/>
                    <a:lstStyle/>
                    <a:p>
                      <a:pPr>
                        <a:lnSpc>
                          <a:spcPts val="1875"/>
                        </a:lnSpc>
                        <a:buNone/>
                      </a:pPr>
                      <a:r>
                        <a:rPr lang="en-US" altLang="zh-MO" sz="1400" b="1">
                          <a:effectLst/>
                          <a:latin typeface="quote-cjk-patch"/>
                        </a:rPr>
                        <a:t>2</a:t>
                      </a:r>
                      <a:endParaRPr lang="zh-MO" altLang="en-US" sz="1400" b="0">
                        <a:effectLst/>
                        <a:latin typeface="quote-cjk-patch"/>
                      </a:endParaRPr>
                    </a:p>
                  </a:txBody>
                  <a:tcPr marL="70089" marR="93452" marT="58407" marB="58407" anchor="ctr">
                    <a:lnL>
                      <a:noFill/>
                    </a:lnL>
                    <a:lnR>
                      <a:noFill/>
                    </a:lnR>
                    <a:lnT>
                      <a:noFill/>
                    </a:lnT>
                    <a:lnB>
                      <a:noFill/>
                    </a:lnB>
                    <a:noFill/>
                  </a:tcPr>
                </a:tc>
                <a:tc>
                  <a:txBody>
                    <a:bodyPr/>
                    <a:lstStyle/>
                    <a:p>
                      <a:pPr>
                        <a:lnSpc>
                          <a:spcPts val="1875"/>
                        </a:lnSpc>
                        <a:buNone/>
                      </a:pPr>
                      <a:r>
                        <a:rPr lang="en-US" sz="1400" b="0">
                          <a:effectLst/>
                          <a:latin typeface="quote-cjk-patch"/>
                        </a:rPr>
                        <a:t>Respond but keep it brief. Thank her for the message, ask about her content schedule.</a:t>
                      </a:r>
                    </a:p>
                  </a:txBody>
                  <a:tcPr marL="93452" marR="93452" marT="58407" marB="58407" anchor="ctr">
                    <a:lnL>
                      <a:noFill/>
                    </a:lnL>
                    <a:lnR>
                      <a:noFill/>
                    </a:lnR>
                    <a:lnT>
                      <a:noFill/>
                    </a:lnT>
                    <a:lnB>
                      <a:noFill/>
                    </a:lnB>
                    <a:noFill/>
                  </a:tcPr>
                </a:tc>
                <a:tc>
                  <a:txBody>
                    <a:bodyPr/>
                    <a:lstStyle/>
                    <a:p>
                      <a:pPr>
                        <a:lnSpc>
                          <a:spcPts val="1875"/>
                        </a:lnSpc>
                        <a:buNone/>
                      </a:pPr>
                      <a:r>
                        <a:rPr lang="en-US" sz="1400" b="0" i="1">
                          <a:effectLst/>
                          <a:latin typeface="quote-cjk-patch"/>
                        </a:rPr>
                        <a:t>Proceeds to Scene 5 – The Transactional User</a:t>
                      </a:r>
                      <a:endParaRPr lang="en-US" sz="1400" b="0">
                        <a:effectLst/>
                        <a:latin typeface="quote-cjk-patch"/>
                      </a:endParaRPr>
                    </a:p>
                  </a:txBody>
                  <a:tcPr marL="93452" marR="70089" marT="58407" marB="58407" anchor="ctr">
                    <a:lnL>
                      <a:noFill/>
                    </a:lnL>
                    <a:lnR>
                      <a:noFill/>
                    </a:lnR>
                    <a:lnT>
                      <a:noFill/>
                    </a:lnT>
                    <a:lnB>
                      <a:noFill/>
                    </a:lnB>
                    <a:noFill/>
                  </a:tcPr>
                </a:tc>
                <a:extLst>
                  <a:ext uri="{0D108BD9-81ED-4DB2-BD59-A6C34878D82A}">
                    <a16:rowId xmlns:a16="http://schemas.microsoft.com/office/drawing/2014/main" val="658118013"/>
                  </a:ext>
                </a:extLst>
              </a:tr>
              <a:tr h="1226552">
                <a:tc>
                  <a:txBody>
                    <a:bodyPr/>
                    <a:lstStyle/>
                    <a:p>
                      <a:pPr>
                        <a:lnSpc>
                          <a:spcPts val="1875"/>
                        </a:lnSpc>
                        <a:buNone/>
                      </a:pPr>
                      <a:r>
                        <a:rPr lang="en-US" altLang="zh-MO" sz="1400" b="1">
                          <a:effectLst/>
                          <a:latin typeface="quote-cjk-patch"/>
                        </a:rPr>
                        <a:t>3</a:t>
                      </a:r>
                      <a:endParaRPr lang="zh-MO" altLang="en-US" sz="1400" b="0">
                        <a:effectLst/>
                        <a:latin typeface="quote-cjk-patch"/>
                      </a:endParaRPr>
                    </a:p>
                  </a:txBody>
                  <a:tcPr marL="70089" marR="93452" marT="58407" marB="58407" anchor="ctr">
                    <a:lnL>
                      <a:noFill/>
                    </a:lnL>
                    <a:lnR>
                      <a:noFill/>
                    </a:lnR>
                    <a:lnT>
                      <a:noFill/>
                    </a:lnT>
                    <a:lnB>
                      <a:noFill/>
                    </a:lnB>
                    <a:noFill/>
                  </a:tcPr>
                </a:tc>
                <a:tc>
                  <a:txBody>
                    <a:bodyPr/>
                    <a:lstStyle/>
                    <a:p>
                      <a:pPr>
                        <a:lnSpc>
                          <a:spcPts val="1875"/>
                        </a:lnSpc>
                        <a:buNone/>
                      </a:pPr>
                      <a:r>
                        <a:rPr lang="en-US" sz="1400" b="0">
                          <a:effectLst/>
                          <a:latin typeface="quote-cjk-patch"/>
                        </a:rPr>
                        <a:t>Don't respond. This feels too intimate for someone who doesn't know him.</a:t>
                      </a:r>
                    </a:p>
                  </a:txBody>
                  <a:tcPr marL="93452" marR="93452" marT="58407" marB="58407" anchor="ctr">
                    <a:lnL>
                      <a:noFill/>
                    </a:lnL>
                    <a:lnR>
                      <a:noFill/>
                    </a:lnR>
                    <a:lnT>
                      <a:noFill/>
                    </a:lnT>
                    <a:lnB>
                      <a:noFill/>
                    </a:lnB>
                    <a:noFill/>
                  </a:tcPr>
                </a:tc>
                <a:tc>
                  <a:txBody>
                    <a:bodyPr/>
                    <a:lstStyle/>
                    <a:p>
                      <a:pPr>
                        <a:lnSpc>
                          <a:spcPts val="1875"/>
                        </a:lnSpc>
                        <a:buNone/>
                      </a:pPr>
                      <a:r>
                        <a:rPr lang="en-US" sz="1400" b="0" i="1" dirty="0">
                          <a:effectLst/>
                          <a:latin typeface="quote-cjk-patch"/>
                        </a:rPr>
                        <a:t>Proceeds to Scene 6 – The Guarded One</a:t>
                      </a:r>
                      <a:endParaRPr lang="en-US" sz="1400" b="0" dirty="0">
                        <a:effectLst/>
                        <a:latin typeface="quote-cjk-patch"/>
                      </a:endParaRPr>
                    </a:p>
                  </a:txBody>
                  <a:tcPr marL="93452" marR="70089" marT="58407" marB="58407" anchor="ctr">
                    <a:lnL>
                      <a:noFill/>
                    </a:lnL>
                    <a:lnR>
                      <a:noFill/>
                    </a:lnR>
                    <a:lnT>
                      <a:noFill/>
                    </a:lnT>
                    <a:lnB>
                      <a:noFill/>
                    </a:lnB>
                    <a:noFill/>
                  </a:tcPr>
                </a:tc>
                <a:extLst>
                  <a:ext uri="{0D108BD9-81ED-4DB2-BD59-A6C34878D82A}">
                    <a16:rowId xmlns:a16="http://schemas.microsoft.com/office/drawing/2014/main" val="2970476578"/>
                  </a:ext>
                </a:extLst>
              </a:tr>
            </a:tbl>
          </a:graphicData>
        </a:graphic>
      </p:graphicFrame>
    </p:spTree>
    <p:extLst>
      <p:ext uri="{BB962C8B-B14F-4D97-AF65-F5344CB8AC3E}">
        <p14:creationId xmlns:p14="http://schemas.microsoft.com/office/powerpoint/2010/main" val="1239354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27AB9F-5EC6-E0AD-D475-130679C4BAA6}"/>
              </a:ext>
            </a:extLst>
          </p:cNvPr>
          <p:cNvSpPr>
            <a:spLocks noGrp="1"/>
          </p:cNvSpPr>
          <p:nvPr>
            <p:ph type="title"/>
          </p:nvPr>
        </p:nvSpPr>
        <p:spPr/>
        <p:txBody>
          <a:bodyPr/>
          <a:lstStyle/>
          <a:p>
            <a:endParaRPr lang="zh-MO" altLang="en-US"/>
          </a:p>
        </p:txBody>
      </p:sp>
      <p:sp>
        <p:nvSpPr>
          <p:cNvPr id="3" name="內容版面配置區 2">
            <a:extLst>
              <a:ext uri="{FF2B5EF4-FFF2-40B4-BE49-F238E27FC236}">
                <a16:creationId xmlns:a16="http://schemas.microsoft.com/office/drawing/2014/main" id="{7D1BCDC1-1578-76EB-A06A-E1BF975D34FB}"/>
              </a:ext>
            </a:extLst>
          </p:cNvPr>
          <p:cNvSpPr>
            <a:spLocks noGrp="1"/>
          </p:cNvSpPr>
          <p:nvPr>
            <p:ph idx="1"/>
          </p:nvPr>
        </p:nvSpPr>
        <p:spPr/>
        <p:txBody>
          <a:bodyPr>
            <a:normAutofit fontScale="92500" lnSpcReduction="10000"/>
          </a:bodyPr>
          <a:lstStyle/>
          <a:p>
            <a:r>
              <a:rPr lang="en-US" altLang="zh-MO" b="1" dirty="0"/>
              <a:t>Scene 4: The Bond Deepens (Romantic Seeker)</a:t>
            </a:r>
          </a:p>
          <a:p>
            <a:r>
              <a:rPr lang="en-US" altLang="zh-MO" b="1" dirty="0"/>
              <a:t>Setting:</a:t>
            </a:r>
            <a:r>
              <a:rPr lang="en-US" altLang="zh-MO" dirty="0"/>
              <a:t> Over the next three weeks, Alex and the creator message daily. She remembers details—his work stress, his cat's name, his upcoming vacation. She sends voice notes saying she missed talking to him. He starts checking his phone first thing in the morning.</a:t>
            </a:r>
          </a:p>
          <a:p>
            <a:r>
              <a:rPr lang="en-US" altLang="zh-MO" dirty="0"/>
              <a:t>He's tipped her an extra $50 this month. He's thinking about her during work.</a:t>
            </a:r>
          </a:p>
          <a:p>
            <a:r>
              <a:rPr lang="en-US" altLang="zh-MO" b="1" dirty="0"/>
              <a:t>Then, one night:</a:t>
            </a:r>
            <a:r>
              <a:rPr lang="en-US" altLang="zh-MO" dirty="0"/>
              <a:t> Alex sends a vulnerable message about feeling isolated in his new city. The reply comes back in 8 seconds. At 2:17 AM. The grammar is flawless. The tone is warm but... generic.</a:t>
            </a:r>
          </a:p>
          <a:p>
            <a:r>
              <a:rPr lang="en-US" altLang="zh-MO" dirty="0"/>
              <a:t>Something feels off.</a:t>
            </a:r>
          </a:p>
          <a:p>
            <a:endParaRPr lang="zh-MO" altLang="en-US" dirty="0"/>
          </a:p>
        </p:txBody>
      </p:sp>
    </p:spTree>
    <p:extLst>
      <p:ext uri="{BB962C8B-B14F-4D97-AF65-F5344CB8AC3E}">
        <p14:creationId xmlns:p14="http://schemas.microsoft.com/office/powerpoint/2010/main" val="1773833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B70E8C-EA9D-8ED1-66E6-D36ED8077837}"/>
              </a:ext>
            </a:extLst>
          </p:cNvPr>
          <p:cNvSpPr>
            <a:spLocks noGrp="1"/>
          </p:cNvSpPr>
          <p:nvPr>
            <p:ph type="title"/>
          </p:nvPr>
        </p:nvSpPr>
        <p:spPr/>
        <p:txBody>
          <a:bodyPr/>
          <a:lstStyle/>
          <a:p>
            <a:r>
              <a:rPr lang="en-US" altLang="zh-MO" b="1" dirty="0"/>
              <a:t>Audience Choice D – What does Alex do?</a:t>
            </a:r>
            <a:endParaRPr lang="zh-MO" altLang="en-US" dirty="0"/>
          </a:p>
        </p:txBody>
      </p:sp>
      <p:graphicFrame>
        <p:nvGraphicFramePr>
          <p:cNvPr id="4" name="內容版面配置區 3">
            <a:extLst>
              <a:ext uri="{FF2B5EF4-FFF2-40B4-BE49-F238E27FC236}">
                <a16:creationId xmlns:a16="http://schemas.microsoft.com/office/drawing/2014/main" id="{D1D17C1F-2C41-816B-9FEB-C90608D98031}"/>
              </a:ext>
            </a:extLst>
          </p:cNvPr>
          <p:cNvGraphicFramePr>
            <a:graphicFrameLocks noGrp="1"/>
          </p:cNvGraphicFramePr>
          <p:nvPr>
            <p:ph idx="1"/>
            <p:extLst>
              <p:ext uri="{D42A27DB-BD31-4B8C-83A1-F6EECF244321}">
                <p14:modId xmlns:p14="http://schemas.microsoft.com/office/powerpoint/2010/main" val="3611548168"/>
              </p:ext>
            </p:extLst>
          </p:nvPr>
        </p:nvGraphicFramePr>
        <p:xfrm>
          <a:off x="1158240" y="2141537"/>
          <a:ext cx="9164319" cy="4351338"/>
        </p:xfrm>
        <a:graphic>
          <a:graphicData uri="http://schemas.openxmlformats.org/drawingml/2006/table">
            <a:tbl>
              <a:tblPr/>
              <a:tblGrid>
                <a:gridCol w="3054773">
                  <a:extLst>
                    <a:ext uri="{9D8B030D-6E8A-4147-A177-3AD203B41FA5}">
                      <a16:colId xmlns:a16="http://schemas.microsoft.com/office/drawing/2014/main" val="1264529164"/>
                    </a:ext>
                  </a:extLst>
                </a:gridCol>
                <a:gridCol w="3054773">
                  <a:extLst>
                    <a:ext uri="{9D8B030D-6E8A-4147-A177-3AD203B41FA5}">
                      <a16:colId xmlns:a16="http://schemas.microsoft.com/office/drawing/2014/main" val="2090271406"/>
                    </a:ext>
                  </a:extLst>
                </a:gridCol>
                <a:gridCol w="3054773">
                  <a:extLst>
                    <a:ext uri="{9D8B030D-6E8A-4147-A177-3AD203B41FA5}">
                      <a16:colId xmlns:a16="http://schemas.microsoft.com/office/drawing/2014/main" val="1193784015"/>
                    </a:ext>
                  </a:extLst>
                </a:gridCol>
              </a:tblGrid>
              <a:tr h="769852">
                <a:tc>
                  <a:txBody>
                    <a:bodyPr/>
                    <a:lstStyle/>
                    <a:p>
                      <a:pPr algn="l">
                        <a:lnSpc>
                          <a:spcPts val="1875"/>
                        </a:lnSpc>
                        <a:buNone/>
                      </a:pPr>
                      <a:r>
                        <a:rPr lang="en-US" sz="1600" b="0">
                          <a:effectLst/>
                          <a:latin typeface="quote-cjk-patch"/>
                        </a:rPr>
                        <a:t>ption</a:t>
                      </a:r>
                    </a:p>
                  </a:txBody>
                  <a:tcPr marL="80332" marR="107110" marT="66944" marB="66944" anchor="ctr">
                    <a:lnL>
                      <a:noFill/>
                    </a:lnL>
                    <a:lnR>
                      <a:noFill/>
                    </a:lnR>
                    <a:lnT>
                      <a:noFill/>
                    </a:lnT>
                    <a:lnB>
                      <a:noFill/>
                    </a:lnB>
                    <a:solidFill>
                      <a:srgbClr val="FFFFFF"/>
                    </a:solidFill>
                  </a:tcPr>
                </a:tc>
                <a:tc>
                  <a:txBody>
                    <a:bodyPr/>
                    <a:lstStyle/>
                    <a:p>
                      <a:pPr algn="l">
                        <a:lnSpc>
                          <a:spcPts val="1875"/>
                        </a:lnSpc>
                        <a:buNone/>
                      </a:pPr>
                      <a:r>
                        <a:rPr lang="en-US" sz="1600" b="0">
                          <a:effectLst/>
                          <a:latin typeface="quote-cjk-patch"/>
                        </a:rPr>
                        <a:t>Action</a:t>
                      </a:r>
                    </a:p>
                  </a:txBody>
                  <a:tcPr marL="107110" marR="107110" marT="66944" marB="66944" anchor="ctr">
                    <a:lnL>
                      <a:noFill/>
                    </a:lnL>
                    <a:lnR>
                      <a:noFill/>
                    </a:lnR>
                    <a:lnT>
                      <a:noFill/>
                    </a:lnT>
                    <a:lnB>
                      <a:noFill/>
                    </a:lnB>
                    <a:solidFill>
                      <a:srgbClr val="FFFFFF"/>
                    </a:solidFill>
                  </a:tcPr>
                </a:tc>
                <a:tc>
                  <a:txBody>
                    <a:bodyPr/>
                    <a:lstStyle/>
                    <a:p>
                      <a:pPr algn="l">
                        <a:lnSpc>
                          <a:spcPts val="1875"/>
                        </a:lnSpc>
                        <a:buNone/>
                      </a:pPr>
                      <a:r>
                        <a:rPr lang="en-US" sz="1600" b="0">
                          <a:effectLst/>
                          <a:latin typeface="quote-cjk-patch"/>
                        </a:rPr>
                        <a:t>Which Interview Archetype This Leads To</a:t>
                      </a:r>
                    </a:p>
                  </a:txBody>
                  <a:tcPr marL="107110" marR="107110" marT="66944" marB="66944" anchor="ctr">
                    <a:lnL>
                      <a:noFill/>
                    </a:lnL>
                    <a:lnR>
                      <a:noFill/>
                    </a:lnR>
                    <a:lnT>
                      <a:noFill/>
                    </a:lnT>
                    <a:lnB>
                      <a:noFill/>
                    </a:lnB>
                    <a:solidFill>
                      <a:srgbClr val="FFFFFF"/>
                    </a:solidFill>
                  </a:tcPr>
                </a:tc>
                <a:extLst>
                  <a:ext uri="{0D108BD9-81ED-4DB2-BD59-A6C34878D82A}">
                    <a16:rowId xmlns:a16="http://schemas.microsoft.com/office/drawing/2014/main" val="1772534943"/>
                  </a:ext>
                </a:extLst>
              </a:tr>
              <a:tr h="1193829">
                <a:tc>
                  <a:txBody>
                    <a:bodyPr/>
                    <a:lstStyle/>
                    <a:p>
                      <a:pPr>
                        <a:lnSpc>
                          <a:spcPts val="1875"/>
                        </a:lnSpc>
                        <a:buNone/>
                      </a:pPr>
                      <a:r>
                        <a:rPr lang="en-US" altLang="zh-MO" sz="1600" b="1">
                          <a:effectLst/>
                          <a:latin typeface="quote-cjk-patch"/>
                        </a:rPr>
                        <a:t>1</a:t>
                      </a:r>
                      <a:endParaRPr lang="zh-MO" altLang="en-US" sz="1600" b="0">
                        <a:effectLst/>
                        <a:latin typeface="quote-cjk-patch"/>
                      </a:endParaRPr>
                    </a:p>
                  </a:txBody>
                  <a:tcPr marL="80332" marR="107110" marT="66944" marB="66944" anchor="ctr">
                    <a:lnL>
                      <a:noFill/>
                    </a:lnL>
                    <a:lnR>
                      <a:noFill/>
                    </a:lnR>
                    <a:lnT>
                      <a:noFill/>
                    </a:lnT>
                    <a:lnB>
                      <a:noFill/>
                    </a:lnB>
                    <a:solidFill>
                      <a:srgbClr val="FFFFFF"/>
                    </a:solidFill>
                  </a:tcPr>
                </a:tc>
                <a:tc>
                  <a:txBody>
                    <a:bodyPr/>
                    <a:lstStyle/>
                    <a:p>
                      <a:pPr>
                        <a:lnSpc>
                          <a:spcPts val="1875"/>
                        </a:lnSpc>
                        <a:buNone/>
                      </a:pPr>
                      <a:r>
                        <a:rPr lang="en-US" sz="1600" b="0" dirty="0">
                          <a:effectLst/>
                          <a:latin typeface="quote-cjk-patch"/>
                        </a:rPr>
                        <a:t>Ask directly: "Are you real? Like, am I talking to you or someone else?"</a:t>
                      </a:r>
                    </a:p>
                  </a:txBody>
                  <a:tcPr marL="107110" marR="107110" marT="66944" marB="66944" anchor="ctr">
                    <a:lnL>
                      <a:noFill/>
                    </a:lnL>
                    <a:lnR>
                      <a:noFill/>
                    </a:lnR>
                    <a:lnT>
                      <a:noFill/>
                    </a:lnT>
                    <a:lnB>
                      <a:noFill/>
                    </a:lnB>
                    <a:solidFill>
                      <a:srgbClr val="FFFFFF"/>
                    </a:solidFill>
                  </a:tcPr>
                </a:tc>
                <a:tc>
                  <a:txBody>
                    <a:bodyPr/>
                    <a:lstStyle/>
                    <a:p>
                      <a:pPr>
                        <a:lnSpc>
                          <a:spcPts val="1875"/>
                        </a:lnSpc>
                        <a:buNone/>
                      </a:pPr>
                      <a:r>
                        <a:rPr lang="en-US" sz="1600" b="0" i="1">
                          <a:effectLst/>
                          <a:latin typeface="quote-cjk-patch"/>
                        </a:rPr>
                        <a:t>Proceeds to Scene 7 – The Confrontation</a:t>
                      </a:r>
                      <a:endParaRPr lang="en-US" sz="1600" b="0">
                        <a:effectLst/>
                        <a:latin typeface="quote-cjk-patch"/>
                      </a:endParaRPr>
                    </a:p>
                  </a:txBody>
                  <a:tcPr marL="107110" marR="80332" marT="66944" marB="66944" anchor="ctr">
                    <a:lnL>
                      <a:noFill/>
                    </a:lnL>
                    <a:lnR>
                      <a:noFill/>
                    </a:lnR>
                    <a:lnT>
                      <a:noFill/>
                    </a:lnT>
                    <a:lnB>
                      <a:noFill/>
                    </a:lnB>
                    <a:solidFill>
                      <a:srgbClr val="FFFFFF"/>
                    </a:solidFill>
                  </a:tcPr>
                </a:tc>
                <a:extLst>
                  <a:ext uri="{0D108BD9-81ED-4DB2-BD59-A6C34878D82A}">
                    <a16:rowId xmlns:a16="http://schemas.microsoft.com/office/drawing/2014/main" val="1841251224"/>
                  </a:ext>
                </a:extLst>
              </a:tr>
              <a:tr h="1405817">
                <a:tc>
                  <a:txBody>
                    <a:bodyPr/>
                    <a:lstStyle/>
                    <a:p>
                      <a:pPr>
                        <a:lnSpc>
                          <a:spcPts val="1875"/>
                        </a:lnSpc>
                        <a:buNone/>
                      </a:pPr>
                      <a:r>
                        <a:rPr lang="en-US" altLang="zh-MO" sz="1600" b="1">
                          <a:effectLst/>
                          <a:latin typeface="quote-cjk-patch"/>
                        </a:rPr>
                        <a:t>2</a:t>
                      </a:r>
                      <a:endParaRPr lang="zh-MO" altLang="en-US" sz="1600" b="0">
                        <a:effectLst/>
                        <a:latin typeface="quote-cjk-patch"/>
                      </a:endParaRPr>
                    </a:p>
                  </a:txBody>
                  <a:tcPr marL="80332" marR="107110" marT="66944" marB="66944" anchor="ctr">
                    <a:lnL>
                      <a:noFill/>
                    </a:lnL>
                    <a:lnR>
                      <a:noFill/>
                    </a:lnR>
                    <a:lnT>
                      <a:noFill/>
                    </a:lnT>
                    <a:lnB>
                      <a:noFill/>
                    </a:lnB>
                    <a:solidFill>
                      <a:srgbClr val="FFFFFF"/>
                    </a:solidFill>
                  </a:tcPr>
                </a:tc>
                <a:tc>
                  <a:txBody>
                    <a:bodyPr/>
                    <a:lstStyle/>
                    <a:p>
                      <a:pPr>
                        <a:lnSpc>
                          <a:spcPts val="1875"/>
                        </a:lnSpc>
                        <a:buNone/>
                      </a:pPr>
                      <a:r>
                        <a:rPr lang="en-US" sz="1600" b="0">
                          <a:effectLst/>
                          <a:latin typeface="quote-cjk-patch"/>
                        </a:rPr>
                        <a:t>Ignore the suspicion. The experience still makes him feel good. He doesn't want to ruin it.</a:t>
                      </a:r>
                    </a:p>
                  </a:txBody>
                  <a:tcPr marL="107110" marR="107110" marT="66944" marB="66944" anchor="ctr">
                    <a:lnL>
                      <a:noFill/>
                    </a:lnL>
                    <a:lnR>
                      <a:noFill/>
                    </a:lnR>
                    <a:lnT>
                      <a:noFill/>
                    </a:lnT>
                    <a:lnB>
                      <a:noFill/>
                    </a:lnB>
                    <a:solidFill>
                      <a:srgbClr val="FFFFFF"/>
                    </a:solidFill>
                  </a:tcPr>
                </a:tc>
                <a:tc>
                  <a:txBody>
                    <a:bodyPr/>
                    <a:lstStyle/>
                    <a:p>
                      <a:pPr>
                        <a:lnSpc>
                          <a:spcPts val="1875"/>
                        </a:lnSpc>
                        <a:buNone/>
                      </a:pPr>
                      <a:r>
                        <a:rPr lang="en-US" sz="1600" b="0" i="1">
                          <a:effectLst/>
                          <a:latin typeface="quote-cjk-patch"/>
                        </a:rPr>
                        <a:t>Proceeds to Scene 8 – Willful Ignorance</a:t>
                      </a:r>
                      <a:endParaRPr lang="en-US" sz="1600" b="0">
                        <a:effectLst/>
                        <a:latin typeface="quote-cjk-patch"/>
                      </a:endParaRPr>
                    </a:p>
                  </a:txBody>
                  <a:tcPr marL="107110" marR="80332" marT="66944" marB="66944" anchor="ctr">
                    <a:lnL>
                      <a:noFill/>
                    </a:lnL>
                    <a:lnR>
                      <a:noFill/>
                    </a:lnR>
                    <a:lnT>
                      <a:noFill/>
                    </a:lnT>
                    <a:lnB>
                      <a:noFill/>
                    </a:lnB>
                    <a:solidFill>
                      <a:srgbClr val="FFFFFF"/>
                    </a:solidFill>
                  </a:tcPr>
                </a:tc>
                <a:extLst>
                  <a:ext uri="{0D108BD9-81ED-4DB2-BD59-A6C34878D82A}">
                    <a16:rowId xmlns:a16="http://schemas.microsoft.com/office/drawing/2014/main" val="2809877680"/>
                  </a:ext>
                </a:extLst>
              </a:tr>
              <a:tr h="981840">
                <a:tc>
                  <a:txBody>
                    <a:bodyPr/>
                    <a:lstStyle/>
                    <a:p>
                      <a:pPr>
                        <a:lnSpc>
                          <a:spcPts val="1875"/>
                        </a:lnSpc>
                        <a:buNone/>
                      </a:pPr>
                      <a:r>
                        <a:rPr lang="en-US" altLang="zh-MO" sz="1600" b="1">
                          <a:effectLst/>
                          <a:latin typeface="quote-cjk-patch"/>
                        </a:rPr>
                        <a:t>3</a:t>
                      </a:r>
                      <a:endParaRPr lang="zh-MO" altLang="en-US" sz="1600" b="0">
                        <a:effectLst/>
                        <a:latin typeface="quote-cjk-patch"/>
                      </a:endParaRPr>
                    </a:p>
                  </a:txBody>
                  <a:tcPr marL="80332" marR="107110" marT="66944" marB="66944" anchor="ctr">
                    <a:lnL>
                      <a:noFill/>
                    </a:lnL>
                    <a:lnR>
                      <a:noFill/>
                    </a:lnR>
                    <a:lnT>
                      <a:noFill/>
                    </a:lnT>
                    <a:lnB>
                      <a:noFill/>
                    </a:lnB>
                    <a:solidFill>
                      <a:srgbClr val="FFFFFF"/>
                    </a:solidFill>
                  </a:tcPr>
                </a:tc>
                <a:tc>
                  <a:txBody>
                    <a:bodyPr/>
                    <a:lstStyle/>
                    <a:p>
                      <a:pPr>
                        <a:lnSpc>
                          <a:spcPts val="1875"/>
                        </a:lnSpc>
                        <a:buNone/>
                      </a:pPr>
                      <a:r>
                        <a:rPr lang="en-US" sz="1600" b="0">
                          <a:effectLst/>
                          <a:latin typeface="quote-cjk-patch"/>
                        </a:rPr>
                        <a:t>Unsubscribe immediately. The trust is broken. He feels stupid.</a:t>
                      </a:r>
                    </a:p>
                  </a:txBody>
                  <a:tcPr marL="107110" marR="107110" marT="66944" marB="66944" anchor="ctr">
                    <a:lnL>
                      <a:noFill/>
                    </a:lnL>
                    <a:lnR>
                      <a:noFill/>
                    </a:lnR>
                    <a:lnT>
                      <a:noFill/>
                    </a:lnT>
                    <a:lnB>
                      <a:noFill/>
                    </a:lnB>
                    <a:solidFill>
                      <a:srgbClr val="FFFFFF"/>
                    </a:solidFill>
                  </a:tcPr>
                </a:tc>
                <a:tc>
                  <a:txBody>
                    <a:bodyPr/>
                    <a:lstStyle/>
                    <a:p>
                      <a:pPr>
                        <a:lnSpc>
                          <a:spcPts val="1875"/>
                        </a:lnSpc>
                        <a:buNone/>
                      </a:pPr>
                      <a:r>
                        <a:rPr lang="en-US" sz="1600" b="0" i="1" dirty="0">
                          <a:effectLst/>
                          <a:latin typeface="quote-cjk-patch"/>
                        </a:rPr>
                        <a:t>Proceeds to Scene 9 – The Wounded Exit</a:t>
                      </a:r>
                      <a:endParaRPr lang="en-US" sz="1600" b="0" dirty="0">
                        <a:effectLst/>
                        <a:latin typeface="quote-cjk-patch"/>
                      </a:endParaRPr>
                    </a:p>
                  </a:txBody>
                  <a:tcPr marL="107110" marR="80332" marT="66944" marB="66944" anchor="ctr">
                    <a:lnL>
                      <a:noFill/>
                    </a:lnL>
                    <a:lnR>
                      <a:noFill/>
                    </a:lnR>
                    <a:lnT>
                      <a:noFill/>
                    </a:lnT>
                    <a:lnB>
                      <a:noFill/>
                    </a:lnB>
                    <a:solidFill>
                      <a:srgbClr val="FFFFFF"/>
                    </a:solidFill>
                  </a:tcPr>
                </a:tc>
                <a:extLst>
                  <a:ext uri="{0D108BD9-81ED-4DB2-BD59-A6C34878D82A}">
                    <a16:rowId xmlns:a16="http://schemas.microsoft.com/office/drawing/2014/main" val="2250134119"/>
                  </a:ext>
                </a:extLst>
              </a:tr>
            </a:tbl>
          </a:graphicData>
        </a:graphic>
      </p:graphicFrame>
    </p:spTree>
    <p:extLst>
      <p:ext uri="{BB962C8B-B14F-4D97-AF65-F5344CB8AC3E}">
        <p14:creationId xmlns:p14="http://schemas.microsoft.com/office/powerpoint/2010/main" val="651595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9BDA34-34EF-5255-ED56-42CEE0034E78}"/>
              </a:ext>
            </a:extLst>
          </p:cNvPr>
          <p:cNvSpPr>
            <a:spLocks noGrp="1"/>
          </p:cNvSpPr>
          <p:nvPr>
            <p:ph type="title"/>
          </p:nvPr>
        </p:nvSpPr>
        <p:spPr/>
        <p:txBody>
          <a:bodyPr/>
          <a:lstStyle/>
          <a:p>
            <a:endParaRPr lang="zh-MO" altLang="en-US" dirty="0"/>
          </a:p>
        </p:txBody>
      </p:sp>
      <p:sp>
        <p:nvSpPr>
          <p:cNvPr id="3" name="內容版面配置區 2">
            <a:extLst>
              <a:ext uri="{FF2B5EF4-FFF2-40B4-BE49-F238E27FC236}">
                <a16:creationId xmlns:a16="http://schemas.microsoft.com/office/drawing/2014/main" id="{CAA8D17B-FA23-AAF3-06F6-089222F8EBB4}"/>
              </a:ext>
            </a:extLst>
          </p:cNvPr>
          <p:cNvSpPr>
            <a:spLocks noGrp="1"/>
          </p:cNvSpPr>
          <p:nvPr>
            <p:ph idx="1"/>
          </p:nvPr>
        </p:nvSpPr>
        <p:spPr/>
        <p:txBody>
          <a:bodyPr/>
          <a:lstStyle/>
          <a:p>
            <a:r>
              <a:rPr lang="en-US" altLang="zh-MO" b="1" dirty="0"/>
              <a:t>Scene 5: The Transactional User</a:t>
            </a:r>
          </a:p>
          <a:p>
            <a:r>
              <a:rPr lang="en-US" altLang="zh-MO" b="1" dirty="0"/>
              <a:t>Setting:</a:t>
            </a:r>
            <a:r>
              <a:rPr lang="en-US" altLang="zh-MO" dirty="0"/>
              <a:t> Alex keeps his messages brief and content-focused. He asks about upcoming posts, requests specific photo sets, and rarely shares personal information. The creator still replies warmly, but Alex doesn't engage emotionally.</a:t>
            </a:r>
          </a:p>
          <a:p>
            <a:r>
              <a:rPr lang="en-US" altLang="zh-MO" dirty="0"/>
              <a:t>After two months, he notices his interest fading. The content is still good, but without the emotional hook, it feels like... just content. He can find similar content for free on Reddit.</a:t>
            </a:r>
          </a:p>
          <a:p>
            <a:endParaRPr lang="zh-MO" altLang="en-US" dirty="0"/>
          </a:p>
        </p:txBody>
      </p:sp>
    </p:spTree>
    <p:extLst>
      <p:ext uri="{BB962C8B-B14F-4D97-AF65-F5344CB8AC3E}">
        <p14:creationId xmlns:p14="http://schemas.microsoft.com/office/powerpoint/2010/main" val="2861046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61B7DC-826C-AEDB-73A4-D6BAD62C7A65}"/>
              </a:ext>
            </a:extLst>
          </p:cNvPr>
          <p:cNvSpPr>
            <a:spLocks noGrp="1"/>
          </p:cNvSpPr>
          <p:nvPr>
            <p:ph type="title"/>
          </p:nvPr>
        </p:nvSpPr>
        <p:spPr/>
        <p:txBody>
          <a:bodyPr/>
          <a:lstStyle/>
          <a:p>
            <a:endParaRPr lang="zh-MO" altLang="en-US"/>
          </a:p>
        </p:txBody>
      </p:sp>
      <p:graphicFrame>
        <p:nvGraphicFramePr>
          <p:cNvPr id="4" name="內容版面配置區 3">
            <a:extLst>
              <a:ext uri="{FF2B5EF4-FFF2-40B4-BE49-F238E27FC236}">
                <a16:creationId xmlns:a16="http://schemas.microsoft.com/office/drawing/2014/main" id="{0C069D12-C520-9636-B32D-62BB60F182D6}"/>
              </a:ext>
            </a:extLst>
          </p:cNvPr>
          <p:cNvGraphicFramePr>
            <a:graphicFrameLocks noGrp="1"/>
          </p:cNvGraphicFramePr>
          <p:nvPr>
            <p:ph idx="1"/>
            <p:extLst>
              <p:ext uri="{D42A27DB-BD31-4B8C-83A1-F6EECF244321}">
                <p14:modId xmlns:p14="http://schemas.microsoft.com/office/powerpoint/2010/main" val="3894191899"/>
              </p:ext>
            </p:extLst>
          </p:nvPr>
        </p:nvGraphicFramePr>
        <p:xfrm>
          <a:off x="1514169" y="1986116"/>
          <a:ext cx="7954296" cy="2726378"/>
        </p:xfrm>
        <a:graphic>
          <a:graphicData uri="http://schemas.openxmlformats.org/drawingml/2006/table">
            <a:tbl>
              <a:tblPr/>
              <a:tblGrid>
                <a:gridCol w="2651432">
                  <a:extLst>
                    <a:ext uri="{9D8B030D-6E8A-4147-A177-3AD203B41FA5}">
                      <a16:colId xmlns:a16="http://schemas.microsoft.com/office/drawing/2014/main" val="2784833767"/>
                    </a:ext>
                  </a:extLst>
                </a:gridCol>
                <a:gridCol w="2651432">
                  <a:extLst>
                    <a:ext uri="{9D8B030D-6E8A-4147-A177-3AD203B41FA5}">
                      <a16:colId xmlns:a16="http://schemas.microsoft.com/office/drawing/2014/main" val="4004052396"/>
                    </a:ext>
                  </a:extLst>
                </a:gridCol>
                <a:gridCol w="2651432">
                  <a:extLst>
                    <a:ext uri="{9D8B030D-6E8A-4147-A177-3AD203B41FA5}">
                      <a16:colId xmlns:a16="http://schemas.microsoft.com/office/drawing/2014/main" val="1619170050"/>
                    </a:ext>
                  </a:extLst>
                </a:gridCol>
              </a:tblGrid>
              <a:tr h="500105">
                <a:tc>
                  <a:txBody>
                    <a:bodyPr/>
                    <a:lstStyle/>
                    <a:p>
                      <a:pPr algn="l">
                        <a:lnSpc>
                          <a:spcPts val="1875"/>
                        </a:lnSpc>
                        <a:buNone/>
                      </a:pPr>
                      <a:r>
                        <a:rPr lang="en-US" b="0">
                          <a:effectLst/>
                          <a:latin typeface="quote-cjk-patch"/>
                        </a:rPr>
                        <a:t>Option</a:t>
                      </a:r>
                    </a:p>
                  </a:txBody>
                  <a:tcPr marR="121920" marT="76200" marB="76200" anchor="ctr">
                    <a:lnL>
                      <a:noFill/>
                    </a:lnL>
                    <a:lnR>
                      <a:noFill/>
                    </a:lnR>
                    <a:lnT>
                      <a:noFill/>
                    </a:lnT>
                    <a:lnB>
                      <a:noFill/>
                    </a:lnB>
                    <a:solidFill>
                      <a:srgbClr val="FFFFFF"/>
                    </a:solidFill>
                  </a:tcPr>
                </a:tc>
                <a:tc>
                  <a:txBody>
                    <a:bodyPr/>
                    <a:lstStyle/>
                    <a:p>
                      <a:pPr algn="l">
                        <a:lnSpc>
                          <a:spcPts val="1875"/>
                        </a:lnSpc>
                        <a:buNone/>
                      </a:pPr>
                      <a:r>
                        <a:rPr lang="en-US" b="0">
                          <a:effectLst/>
                          <a:latin typeface="quote-cjk-patch"/>
                        </a:rPr>
                        <a:t>Action</a:t>
                      </a:r>
                    </a:p>
                  </a:txBody>
                  <a:tcPr marL="121920" marR="121920" marT="76200" marB="76200" anchor="ctr">
                    <a:lnL>
                      <a:noFill/>
                    </a:lnL>
                    <a:lnR>
                      <a:noFill/>
                    </a:lnR>
                    <a:lnT>
                      <a:noFill/>
                    </a:lnT>
                    <a:lnB>
                      <a:noFill/>
                    </a:lnB>
                    <a:solidFill>
                      <a:srgbClr val="FFFFFF"/>
                    </a:solidFill>
                  </a:tcPr>
                </a:tc>
                <a:tc>
                  <a:txBody>
                    <a:bodyPr/>
                    <a:lstStyle/>
                    <a:p>
                      <a:pPr algn="l">
                        <a:lnSpc>
                          <a:spcPts val="1875"/>
                        </a:lnSpc>
                        <a:buNone/>
                      </a:pPr>
                      <a:r>
                        <a:rPr lang="en-US" b="0">
                          <a:effectLst/>
                          <a:latin typeface="quote-cjk-patch"/>
                        </a:rPr>
                        <a:t>Ending</a:t>
                      </a:r>
                    </a:p>
                  </a:txBody>
                  <a:tcPr marL="121920" marR="121920" marT="76200" marB="76200" anchor="ctr">
                    <a:lnL>
                      <a:noFill/>
                    </a:lnL>
                    <a:lnR>
                      <a:noFill/>
                    </a:lnR>
                    <a:lnT>
                      <a:noFill/>
                    </a:lnT>
                    <a:lnB>
                      <a:noFill/>
                    </a:lnB>
                    <a:solidFill>
                      <a:srgbClr val="FFFFFF"/>
                    </a:solidFill>
                  </a:tcPr>
                </a:tc>
                <a:extLst>
                  <a:ext uri="{0D108BD9-81ED-4DB2-BD59-A6C34878D82A}">
                    <a16:rowId xmlns:a16="http://schemas.microsoft.com/office/drawing/2014/main" val="160985615"/>
                  </a:ext>
                </a:extLst>
              </a:tr>
              <a:tr h="806621">
                <a:tc>
                  <a:txBody>
                    <a:bodyPr/>
                    <a:lstStyle/>
                    <a:p>
                      <a:pPr>
                        <a:lnSpc>
                          <a:spcPts val="1875"/>
                        </a:lnSpc>
                        <a:buNone/>
                      </a:pPr>
                      <a:r>
                        <a:rPr lang="en-US" altLang="zh-MO" b="1">
                          <a:effectLst/>
                          <a:latin typeface="quote-cjk-patch"/>
                        </a:rPr>
                        <a:t>1</a:t>
                      </a:r>
                      <a:endParaRPr lang="zh-MO" altLang="en-US" b="0">
                        <a:effectLst/>
                        <a:latin typeface="quote-cjk-patch"/>
                      </a:endParaRPr>
                    </a:p>
                  </a:txBody>
                  <a:tcPr marR="121920" marT="76200" marB="76200" anchor="ctr">
                    <a:lnL>
                      <a:noFill/>
                    </a:lnL>
                    <a:lnR>
                      <a:noFill/>
                    </a:lnR>
                    <a:lnT>
                      <a:noFill/>
                    </a:lnT>
                    <a:lnB>
                      <a:noFill/>
                    </a:lnB>
                    <a:solidFill>
                      <a:srgbClr val="FFFFFF"/>
                    </a:solidFill>
                  </a:tcPr>
                </a:tc>
                <a:tc>
                  <a:txBody>
                    <a:bodyPr/>
                    <a:lstStyle/>
                    <a:p>
                      <a:pPr>
                        <a:lnSpc>
                          <a:spcPts val="1875"/>
                        </a:lnSpc>
                        <a:buNone/>
                      </a:pPr>
                      <a:r>
                        <a:rPr lang="en-US" b="0">
                          <a:effectLst/>
                          <a:latin typeface="quote-cjk-patch"/>
                        </a:rPr>
                        <a:t>Unsubscribe. The value isn't there anymore.</a:t>
                      </a:r>
                    </a:p>
                  </a:txBody>
                  <a:tcPr marL="121920" marR="121920" marT="76200" marB="76200" anchor="ctr">
                    <a:lnL>
                      <a:noFill/>
                    </a:lnL>
                    <a:lnR>
                      <a:noFill/>
                    </a:lnR>
                    <a:lnT>
                      <a:noFill/>
                    </a:lnT>
                    <a:lnB>
                      <a:noFill/>
                    </a:lnB>
                    <a:solidFill>
                      <a:srgbClr val="FFFFFF"/>
                    </a:solidFill>
                  </a:tcPr>
                </a:tc>
                <a:tc>
                  <a:txBody>
                    <a:bodyPr/>
                    <a:lstStyle/>
                    <a:p>
                      <a:pPr>
                        <a:lnSpc>
                          <a:spcPts val="1875"/>
                        </a:lnSpc>
                        <a:buNone/>
                      </a:pPr>
                      <a:r>
                        <a:rPr lang="en-US" b="0" i="1">
                          <a:effectLst/>
                          <a:latin typeface="quote-cjk-patch"/>
                        </a:rPr>
                        <a:t>Ending 2: The Rational Consumer</a:t>
                      </a:r>
                      <a:endParaRPr lang="en-US" b="0">
                        <a:effectLst/>
                        <a:latin typeface="quote-cjk-patch"/>
                      </a:endParaRP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3939295741"/>
                  </a:ext>
                </a:extLst>
              </a:tr>
              <a:tr h="1419652">
                <a:tc>
                  <a:txBody>
                    <a:bodyPr/>
                    <a:lstStyle/>
                    <a:p>
                      <a:pPr>
                        <a:lnSpc>
                          <a:spcPts val="1875"/>
                        </a:lnSpc>
                        <a:buNone/>
                      </a:pPr>
                      <a:r>
                        <a:rPr lang="en-US" altLang="zh-MO" b="1">
                          <a:effectLst/>
                          <a:latin typeface="quote-cjk-patch"/>
                        </a:rPr>
                        <a:t>2</a:t>
                      </a:r>
                      <a:endParaRPr lang="zh-MO" altLang="en-US" b="0">
                        <a:effectLst/>
                        <a:latin typeface="quote-cjk-patch"/>
                      </a:endParaRPr>
                    </a:p>
                  </a:txBody>
                  <a:tcPr marR="121920" marT="76200" marB="76200" anchor="ctr">
                    <a:lnL>
                      <a:noFill/>
                    </a:lnL>
                    <a:lnR>
                      <a:noFill/>
                    </a:lnR>
                    <a:lnT>
                      <a:noFill/>
                    </a:lnT>
                    <a:lnB>
                      <a:noFill/>
                    </a:lnB>
                    <a:solidFill>
                      <a:srgbClr val="FFFFFF"/>
                    </a:solidFill>
                  </a:tcPr>
                </a:tc>
                <a:tc>
                  <a:txBody>
                    <a:bodyPr/>
                    <a:lstStyle/>
                    <a:p>
                      <a:pPr>
                        <a:lnSpc>
                          <a:spcPts val="1875"/>
                        </a:lnSpc>
                        <a:buNone/>
                      </a:pPr>
                      <a:r>
                        <a:rPr lang="en-US" b="0">
                          <a:effectLst/>
                          <a:latin typeface="quote-cjk-patch"/>
                        </a:rPr>
                        <a:t>Stay subscribed but start engaging more personally to see if the feeling returns.</a:t>
                      </a:r>
                    </a:p>
                  </a:txBody>
                  <a:tcPr marL="121920" marR="121920" marT="76200" marB="76200" anchor="ctr">
                    <a:lnL>
                      <a:noFill/>
                    </a:lnL>
                    <a:lnR>
                      <a:noFill/>
                    </a:lnR>
                    <a:lnT>
                      <a:noFill/>
                    </a:lnT>
                    <a:lnB>
                      <a:noFill/>
                    </a:lnB>
                    <a:solidFill>
                      <a:srgbClr val="FFFFFF"/>
                    </a:solidFill>
                  </a:tcPr>
                </a:tc>
                <a:tc>
                  <a:txBody>
                    <a:bodyPr/>
                    <a:lstStyle/>
                    <a:p>
                      <a:pPr>
                        <a:lnSpc>
                          <a:spcPts val="1875"/>
                        </a:lnSpc>
                        <a:buNone/>
                      </a:pPr>
                      <a:r>
                        <a:rPr lang="en-US" b="0" i="1" dirty="0">
                          <a:effectLst/>
                          <a:latin typeface="quote-cjk-patch"/>
                        </a:rPr>
                        <a:t>Proceeds to Scene 4 – The Bond Deepens (loops back)</a:t>
                      </a:r>
                      <a:endParaRPr lang="en-US" b="0" dirty="0">
                        <a:effectLst/>
                        <a:latin typeface="quote-cjk-patch"/>
                      </a:endParaRP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3071540622"/>
                  </a:ext>
                </a:extLst>
              </a:tr>
            </a:tbl>
          </a:graphicData>
        </a:graphic>
      </p:graphicFrame>
    </p:spTree>
    <p:extLst>
      <p:ext uri="{BB962C8B-B14F-4D97-AF65-F5344CB8AC3E}">
        <p14:creationId xmlns:p14="http://schemas.microsoft.com/office/powerpoint/2010/main" val="3825355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0ACD7EA-80FB-0FE1-984A-5CECB6834A8B}"/>
              </a:ext>
            </a:extLst>
          </p:cNvPr>
          <p:cNvSpPr>
            <a:spLocks noGrp="1"/>
          </p:cNvSpPr>
          <p:nvPr>
            <p:ph type="title"/>
          </p:nvPr>
        </p:nvSpPr>
        <p:spPr/>
        <p:txBody>
          <a:bodyPr/>
          <a:lstStyle/>
          <a:p>
            <a:endParaRPr lang="zh-MO" altLang="en-US"/>
          </a:p>
        </p:txBody>
      </p:sp>
      <p:sp>
        <p:nvSpPr>
          <p:cNvPr id="3" name="內容版面配置區 2">
            <a:extLst>
              <a:ext uri="{FF2B5EF4-FFF2-40B4-BE49-F238E27FC236}">
                <a16:creationId xmlns:a16="http://schemas.microsoft.com/office/drawing/2014/main" id="{425F6258-AA74-C8B7-7382-9B259B3874ED}"/>
              </a:ext>
            </a:extLst>
          </p:cNvPr>
          <p:cNvSpPr>
            <a:spLocks noGrp="1"/>
          </p:cNvSpPr>
          <p:nvPr>
            <p:ph idx="1"/>
          </p:nvPr>
        </p:nvSpPr>
        <p:spPr/>
        <p:txBody>
          <a:bodyPr/>
          <a:lstStyle/>
          <a:p>
            <a:r>
              <a:rPr lang="en-US" altLang="zh-MO" b="1" dirty="0"/>
              <a:t>Scene 6: The Guarded One</a:t>
            </a:r>
          </a:p>
          <a:p>
            <a:r>
              <a:rPr lang="en-US" altLang="zh-MO" b="1" dirty="0"/>
              <a:t>Setting:</a:t>
            </a:r>
            <a:r>
              <a:rPr lang="en-US" altLang="zh-MO" dirty="0"/>
              <a:t> Alex doesn't reply to the first message. He continues watching her content but never initiates conversation. She sends a follow-up message three days later: </a:t>
            </a:r>
            <a:r>
              <a:rPr lang="en-US" altLang="zh-MO" i="1" dirty="0"/>
              <a:t>"Hey, no pressure to reply. Just wanted to say I hope you're having a good week."</a:t>
            </a:r>
            <a:endParaRPr lang="en-US" altLang="zh-MO" dirty="0"/>
          </a:p>
          <a:p>
            <a:r>
              <a:rPr lang="en-US" altLang="zh-MO" dirty="0"/>
              <a:t>Alex feels seen, even though he didn't ask for it. He appreciates that she didn't push.</a:t>
            </a:r>
          </a:p>
          <a:p>
            <a:endParaRPr lang="zh-MO" altLang="en-US" dirty="0"/>
          </a:p>
        </p:txBody>
      </p:sp>
    </p:spTree>
    <p:extLst>
      <p:ext uri="{BB962C8B-B14F-4D97-AF65-F5344CB8AC3E}">
        <p14:creationId xmlns:p14="http://schemas.microsoft.com/office/powerpoint/2010/main" val="4261075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F253E8-CEF9-E5C2-DA43-26A247228FCA}"/>
              </a:ext>
            </a:extLst>
          </p:cNvPr>
          <p:cNvSpPr>
            <a:spLocks noGrp="1"/>
          </p:cNvSpPr>
          <p:nvPr>
            <p:ph type="title"/>
          </p:nvPr>
        </p:nvSpPr>
        <p:spPr>
          <a:xfrm>
            <a:off x="838200" y="748583"/>
            <a:ext cx="10515600" cy="1325563"/>
          </a:xfrm>
        </p:spPr>
        <p:txBody>
          <a:bodyPr>
            <a:normAutofit fontScale="90000"/>
          </a:bodyPr>
          <a:lstStyle/>
          <a:p>
            <a:r>
              <a:rPr lang="en-US" altLang="zh-MO" b="1" dirty="0"/>
              <a:t>Audience Choice F – What does Alex do?</a:t>
            </a:r>
            <a:br>
              <a:rPr lang="en-US" altLang="zh-MO" dirty="0"/>
            </a:br>
            <a:br>
              <a:rPr lang="en-US" altLang="zh-MO" dirty="0"/>
            </a:br>
            <a:endParaRPr lang="zh-MO" altLang="en-US" dirty="0"/>
          </a:p>
        </p:txBody>
      </p:sp>
      <p:graphicFrame>
        <p:nvGraphicFramePr>
          <p:cNvPr id="4" name="內容版面配置區 3">
            <a:extLst>
              <a:ext uri="{FF2B5EF4-FFF2-40B4-BE49-F238E27FC236}">
                <a16:creationId xmlns:a16="http://schemas.microsoft.com/office/drawing/2014/main" id="{75BEC2D8-FE92-1DC8-9241-26BF1298E2C4}"/>
              </a:ext>
            </a:extLst>
          </p:cNvPr>
          <p:cNvGraphicFramePr>
            <a:graphicFrameLocks noGrp="1"/>
          </p:cNvGraphicFramePr>
          <p:nvPr>
            <p:ph idx="1"/>
          </p:nvPr>
        </p:nvGraphicFramePr>
        <p:xfrm>
          <a:off x="3230880" y="2445544"/>
          <a:ext cx="5730240" cy="3111500"/>
        </p:xfrm>
        <a:graphic>
          <a:graphicData uri="http://schemas.openxmlformats.org/drawingml/2006/table">
            <a:tbl>
              <a:tblPr/>
              <a:tblGrid>
                <a:gridCol w="1910080">
                  <a:extLst>
                    <a:ext uri="{9D8B030D-6E8A-4147-A177-3AD203B41FA5}">
                      <a16:colId xmlns:a16="http://schemas.microsoft.com/office/drawing/2014/main" val="2340329152"/>
                    </a:ext>
                  </a:extLst>
                </a:gridCol>
                <a:gridCol w="1910080">
                  <a:extLst>
                    <a:ext uri="{9D8B030D-6E8A-4147-A177-3AD203B41FA5}">
                      <a16:colId xmlns:a16="http://schemas.microsoft.com/office/drawing/2014/main" val="1479763147"/>
                    </a:ext>
                  </a:extLst>
                </a:gridCol>
                <a:gridCol w="1910080">
                  <a:extLst>
                    <a:ext uri="{9D8B030D-6E8A-4147-A177-3AD203B41FA5}">
                      <a16:colId xmlns:a16="http://schemas.microsoft.com/office/drawing/2014/main" val="2704323815"/>
                    </a:ext>
                  </a:extLst>
                </a:gridCol>
              </a:tblGrid>
              <a:tr h="0">
                <a:tc>
                  <a:txBody>
                    <a:bodyPr/>
                    <a:lstStyle/>
                    <a:p>
                      <a:pPr algn="l">
                        <a:lnSpc>
                          <a:spcPts val="1875"/>
                        </a:lnSpc>
                        <a:buNone/>
                      </a:pPr>
                      <a:r>
                        <a:rPr lang="en-US" b="0">
                          <a:effectLst/>
                          <a:latin typeface="quote-cjk-patch"/>
                        </a:rPr>
                        <a:t>Option</a:t>
                      </a:r>
                    </a:p>
                  </a:txBody>
                  <a:tcPr marR="121920" marT="76200" marB="76200" anchor="ctr">
                    <a:lnL>
                      <a:noFill/>
                    </a:lnL>
                    <a:lnR>
                      <a:noFill/>
                    </a:lnR>
                    <a:lnT>
                      <a:noFill/>
                    </a:lnT>
                    <a:lnB>
                      <a:noFill/>
                    </a:lnB>
                    <a:noFill/>
                  </a:tcPr>
                </a:tc>
                <a:tc>
                  <a:txBody>
                    <a:bodyPr/>
                    <a:lstStyle/>
                    <a:p>
                      <a:pPr algn="l">
                        <a:lnSpc>
                          <a:spcPts val="1875"/>
                        </a:lnSpc>
                        <a:buNone/>
                      </a:pPr>
                      <a:r>
                        <a:rPr lang="en-US" b="0" dirty="0">
                          <a:effectLst/>
                          <a:latin typeface="quote-cjk-patch"/>
                        </a:rPr>
                        <a:t>Action</a:t>
                      </a:r>
                    </a:p>
                  </a:txBody>
                  <a:tcPr marL="121920" marR="121920" marT="76200" marB="76200" anchor="ctr">
                    <a:lnL>
                      <a:noFill/>
                    </a:lnL>
                    <a:lnR>
                      <a:noFill/>
                    </a:lnR>
                    <a:lnT>
                      <a:noFill/>
                    </a:lnT>
                    <a:lnB>
                      <a:noFill/>
                    </a:lnB>
                    <a:noFill/>
                  </a:tcPr>
                </a:tc>
                <a:tc>
                  <a:txBody>
                    <a:bodyPr/>
                    <a:lstStyle/>
                    <a:p>
                      <a:pPr algn="l">
                        <a:lnSpc>
                          <a:spcPts val="1875"/>
                        </a:lnSpc>
                        <a:buNone/>
                      </a:pPr>
                      <a:r>
                        <a:rPr lang="en-US" b="0" dirty="0">
                          <a:effectLst/>
                          <a:latin typeface="quote-cjk-patch"/>
                        </a:rPr>
                        <a:t>Which Interview Archetype This Leads To</a:t>
                      </a:r>
                    </a:p>
                  </a:txBody>
                  <a:tcPr marL="121920" marR="121920" marT="76200" marB="76200" anchor="ctr">
                    <a:lnL>
                      <a:noFill/>
                    </a:lnL>
                    <a:lnR>
                      <a:noFill/>
                    </a:lnR>
                    <a:lnT>
                      <a:noFill/>
                    </a:lnT>
                    <a:lnB>
                      <a:noFill/>
                    </a:lnB>
                    <a:noFill/>
                  </a:tcPr>
                </a:tc>
                <a:extLst>
                  <a:ext uri="{0D108BD9-81ED-4DB2-BD59-A6C34878D82A}">
                    <a16:rowId xmlns:a16="http://schemas.microsoft.com/office/drawing/2014/main" val="2531267550"/>
                  </a:ext>
                </a:extLst>
              </a:tr>
              <a:tr h="0">
                <a:tc>
                  <a:txBody>
                    <a:bodyPr/>
                    <a:lstStyle/>
                    <a:p>
                      <a:pPr>
                        <a:lnSpc>
                          <a:spcPts val="1875"/>
                        </a:lnSpc>
                        <a:buNone/>
                      </a:pPr>
                      <a:r>
                        <a:rPr lang="en-US" altLang="zh-MO" b="1">
                          <a:effectLst/>
                          <a:latin typeface="quote-cjk-patch"/>
                        </a:rPr>
                        <a:t>1</a:t>
                      </a:r>
                      <a:endParaRPr lang="zh-MO" altLang="en-US" b="0">
                        <a:effectLst/>
                        <a:latin typeface="quote-cjk-patch"/>
                      </a:endParaRPr>
                    </a:p>
                  </a:txBody>
                  <a:tcPr marR="121920" marT="76200" marB="76200" anchor="ctr">
                    <a:lnL>
                      <a:noFill/>
                    </a:lnL>
                    <a:lnR>
                      <a:noFill/>
                    </a:lnR>
                    <a:lnT>
                      <a:noFill/>
                    </a:lnT>
                    <a:lnB>
                      <a:noFill/>
                    </a:lnB>
                    <a:noFill/>
                  </a:tcPr>
                </a:tc>
                <a:tc>
                  <a:txBody>
                    <a:bodyPr/>
                    <a:lstStyle/>
                    <a:p>
                      <a:pPr>
                        <a:lnSpc>
                          <a:spcPts val="1875"/>
                        </a:lnSpc>
                        <a:buNone/>
                      </a:pPr>
                      <a:r>
                        <a:rPr lang="en-US" b="0">
                          <a:effectLst/>
                          <a:latin typeface="quote-cjk-patch"/>
                        </a:rPr>
                        <a:t>Continue lurking. Never message. Just consume content quietly.</a:t>
                      </a:r>
                    </a:p>
                  </a:txBody>
                  <a:tcPr marL="121920" marR="121920" marT="76200" marB="76200" anchor="ctr">
                    <a:lnL>
                      <a:noFill/>
                    </a:lnL>
                    <a:lnR>
                      <a:noFill/>
                    </a:lnR>
                    <a:lnT>
                      <a:noFill/>
                    </a:lnT>
                    <a:lnB>
                      <a:noFill/>
                    </a:lnB>
                    <a:noFill/>
                  </a:tcPr>
                </a:tc>
                <a:tc>
                  <a:txBody>
                    <a:bodyPr/>
                    <a:lstStyle/>
                    <a:p>
                      <a:pPr>
                        <a:lnSpc>
                          <a:spcPts val="1875"/>
                        </a:lnSpc>
                        <a:buNone/>
                      </a:pPr>
                      <a:r>
                        <a:rPr lang="en-US" b="0" i="1">
                          <a:effectLst/>
                          <a:latin typeface="quote-cjk-patch"/>
                        </a:rPr>
                        <a:t>Ending 3: The Silent Observer</a:t>
                      </a:r>
                      <a:endParaRPr lang="en-US" b="0">
                        <a:effectLst/>
                        <a:latin typeface="quote-cjk-patch"/>
                      </a:endParaRPr>
                    </a:p>
                  </a:txBody>
                  <a:tcPr marL="121920" marT="76200" marB="76200" anchor="ctr">
                    <a:lnL>
                      <a:noFill/>
                    </a:lnL>
                    <a:lnR>
                      <a:noFill/>
                    </a:lnR>
                    <a:lnT>
                      <a:noFill/>
                    </a:lnT>
                    <a:lnB>
                      <a:noFill/>
                    </a:lnB>
                    <a:noFill/>
                  </a:tcPr>
                </a:tc>
                <a:extLst>
                  <a:ext uri="{0D108BD9-81ED-4DB2-BD59-A6C34878D82A}">
                    <a16:rowId xmlns:a16="http://schemas.microsoft.com/office/drawing/2014/main" val="3796546684"/>
                  </a:ext>
                </a:extLst>
              </a:tr>
              <a:tr h="0">
                <a:tc>
                  <a:txBody>
                    <a:bodyPr/>
                    <a:lstStyle/>
                    <a:p>
                      <a:pPr>
                        <a:lnSpc>
                          <a:spcPts val="1875"/>
                        </a:lnSpc>
                        <a:buNone/>
                      </a:pPr>
                      <a:r>
                        <a:rPr lang="en-US" altLang="zh-MO" b="1">
                          <a:effectLst/>
                          <a:latin typeface="quote-cjk-patch"/>
                        </a:rPr>
                        <a:t>2</a:t>
                      </a:r>
                      <a:endParaRPr lang="zh-MO" altLang="en-US" b="0">
                        <a:effectLst/>
                        <a:latin typeface="quote-cjk-patch"/>
                      </a:endParaRPr>
                    </a:p>
                  </a:txBody>
                  <a:tcPr marR="121920" marT="76200" marB="76200" anchor="ctr">
                    <a:lnL>
                      <a:noFill/>
                    </a:lnL>
                    <a:lnR>
                      <a:noFill/>
                    </a:lnR>
                    <a:lnT>
                      <a:noFill/>
                    </a:lnT>
                    <a:lnB>
                      <a:noFill/>
                    </a:lnB>
                    <a:noFill/>
                  </a:tcPr>
                </a:tc>
                <a:tc>
                  <a:txBody>
                    <a:bodyPr/>
                    <a:lstStyle/>
                    <a:p>
                      <a:pPr>
                        <a:lnSpc>
                          <a:spcPts val="1875"/>
                        </a:lnSpc>
                        <a:buNone/>
                      </a:pPr>
                      <a:r>
                        <a:rPr lang="en-US" b="0">
                          <a:effectLst/>
                          <a:latin typeface="quote-cjk-patch"/>
                        </a:rPr>
                        <a:t>Send a short reply. Just to acknowledge her.</a:t>
                      </a:r>
                    </a:p>
                  </a:txBody>
                  <a:tcPr marL="121920" marR="121920" marT="76200" marB="76200" anchor="ctr">
                    <a:lnL>
                      <a:noFill/>
                    </a:lnL>
                    <a:lnR>
                      <a:noFill/>
                    </a:lnR>
                    <a:lnT>
                      <a:noFill/>
                    </a:lnT>
                    <a:lnB>
                      <a:noFill/>
                    </a:lnB>
                    <a:noFill/>
                  </a:tcPr>
                </a:tc>
                <a:tc>
                  <a:txBody>
                    <a:bodyPr/>
                    <a:lstStyle/>
                    <a:p>
                      <a:pPr>
                        <a:lnSpc>
                          <a:spcPts val="1875"/>
                        </a:lnSpc>
                        <a:buNone/>
                      </a:pPr>
                      <a:r>
                        <a:rPr lang="en-US" b="0" i="1" dirty="0">
                          <a:effectLst/>
                          <a:latin typeface="quote-cjk-patch"/>
                        </a:rPr>
                        <a:t>Proceeds to Scene 4 – The Bond Deepens (slower burn)</a:t>
                      </a:r>
                      <a:endParaRPr lang="en-US" b="0" dirty="0">
                        <a:effectLst/>
                        <a:latin typeface="quote-cjk-patch"/>
                      </a:endParaRPr>
                    </a:p>
                  </a:txBody>
                  <a:tcPr marL="121920" marT="76200" marB="76200" anchor="ctr">
                    <a:lnL>
                      <a:noFill/>
                    </a:lnL>
                    <a:lnR>
                      <a:noFill/>
                    </a:lnR>
                    <a:lnT>
                      <a:noFill/>
                    </a:lnT>
                    <a:lnB>
                      <a:noFill/>
                    </a:lnB>
                    <a:noFill/>
                  </a:tcPr>
                </a:tc>
                <a:extLst>
                  <a:ext uri="{0D108BD9-81ED-4DB2-BD59-A6C34878D82A}">
                    <a16:rowId xmlns:a16="http://schemas.microsoft.com/office/drawing/2014/main" val="1380965274"/>
                  </a:ext>
                </a:extLst>
              </a:tr>
            </a:tbl>
          </a:graphicData>
        </a:graphic>
      </p:graphicFrame>
    </p:spTree>
    <p:extLst>
      <p:ext uri="{BB962C8B-B14F-4D97-AF65-F5344CB8AC3E}">
        <p14:creationId xmlns:p14="http://schemas.microsoft.com/office/powerpoint/2010/main" val="2992535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D0DC57-5494-1ED9-230C-FE61CEC7D377}"/>
              </a:ext>
            </a:extLst>
          </p:cNvPr>
          <p:cNvSpPr>
            <a:spLocks noGrp="1"/>
          </p:cNvSpPr>
          <p:nvPr>
            <p:ph type="title"/>
          </p:nvPr>
        </p:nvSpPr>
        <p:spPr/>
        <p:txBody>
          <a:bodyPr/>
          <a:lstStyle/>
          <a:p>
            <a:endParaRPr lang="zh-MO" altLang="en-US"/>
          </a:p>
        </p:txBody>
      </p:sp>
      <p:sp>
        <p:nvSpPr>
          <p:cNvPr id="3" name="內容版面配置區 2">
            <a:extLst>
              <a:ext uri="{FF2B5EF4-FFF2-40B4-BE49-F238E27FC236}">
                <a16:creationId xmlns:a16="http://schemas.microsoft.com/office/drawing/2014/main" id="{DBA3EEA5-B569-B590-65C1-3C4A57F00998}"/>
              </a:ext>
            </a:extLst>
          </p:cNvPr>
          <p:cNvSpPr>
            <a:spLocks noGrp="1"/>
          </p:cNvSpPr>
          <p:nvPr>
            <p:ph idx="1"/>
          </p:nvPr>
        </p:nvSpPr>
        <p:spPr/>
        <p:txBody>
          <a:bodyPr>
            <a:normAutofit lnSpcReduction="10000"/>
          </a:bodyPr>
          <a:lstStyle/>
          <a:p>
            <a:r>
              <a:rPr lang="en-US" altLang="zh-MO" b="1" dirty="0"/>
              <a:t>Scene 7: The Confrontation</a:t>
            </a:r>
          </a:p>
          <a:p>
            <a:r>
              <a:rPr lang="en-US" altLang="zh-MO" b="1" dirty="0"/>
              <a:t>Setting:</a:t>
            </a:r>
            <a:r>
              <a:rPr lang="en-US" altLang="zh-MO" dirty="0"/>
              <a:t> Alex asks directly: </a:t>
            </a:r>
            <a:r>
              <a:rPr lang="en-US" altLang="zh-MO" i="1" dirty="0"/>
              <a:t>"Are you real? Like, am I talking to you or someone else?"</a:t>
            </a:r>
            <a:endParaRPr lang="en-US" altLang="zh-MO" dirty="0"/>
          </a:p>
          <a:p>
            <a:r>
              <a:rPr lang="en-US" altLang="zh-MO" dirty="0"/>
              <a:t>The reply comes after 15 minutes:</a:t>
            </a:r>
          </a:p>
          <a:p>
            <a:r>
              <a:rPr lang="en-US" altLang="zh-MO" i="1" dirty="0"/>
              <a:t>"I appreciate you asking. I use a small team to help manage messages so I can focus on creating content. But I review everything, and the connection is still real to me. I'm sorry if that wasn't clear."</a:t>
            </a:r>
            <a:endParaRPr lang="en-US" altLang="zh-MO" dirty="0"/>
          </a:p>
          <a:p>
            <a:r>
              <a:rPr lang="en-US" altLang="zh-MO" dirty="0"/>
              <a:t>Alex feels a mix of relief (she told the truth) and disappointment (it wasn't just her).</a:t>
            </a:r>
          </a:p>
          <a:p>
            <a:endParaRPr lang="zh-MO" altLang="en-US" dirty="0"/>
          </a:p>
        </p:txBody>
      </p:sp>
    </p:spTree>
    <p:extLst>
      <p:ext uri="{BB962C8B-B14F-4D97-AF65-F5344CB8AC3E}">
        <p14:creationId xmlns:p14="http://schemas.microsoft.com/office/powerpoint/2010/main" val="2177504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D0A298-986D-B0CB-7A80-B2FA6DB72F25}"/>
              </a:ext>
            </a:extLst>
          </p:cNvPr>
          <p:cNvSpPr>
            <a:spLocks noGrp="1"/>
          </p:cNvSpPr>
          <p:nvPr>
            <p:ph type="title"/>
          </p:nvPr>
        </p:nvSpPr>
        <p:spPr/>
        <p:txBody>
          <a:bodyPr/>
          <a:lstStyle/>
          <a:p>
            <a:endParaRPr lang="zh-MO" altLang="en-US"/>
          </a:p>
        </p:txBody>
      </p:sp>
      <p:graphicFrame>
        <p:nvGraphicFramePr>
          <p:cNvPr id="7" name="內容版面配置區 6">
            <a:extLst>
              <a:ext uri="{FF2B5EF4-FFF2-40B4-BE49-F238E27FC236}">
                <a16:creationId xmlns:a16="http://schemas.microsoft.com/office/drawing/2014/main" id="{A26BFA2A-3C9D-1F86-2F04-4A6FC774A0F0}"/>
              </a:ext>
            </a:extLst>
          </p:cNvPr>
          <p:cNvGraphicFramePr>
            <a:graphicFrameLocks noGrp="1"/>
          </p:cNvGraphicFramePr>
          <p:nvPr>
            <p:ph idx="1"/>
          </p:nvPr>
        </p:nvGraphicFramePr>
        <p:xfrm>
          <a:off x="3230880" y="2248694"/>
          <a:ext cx="5730240" cy="3505200"/>
        </p:xfrm>
        <a:graphic>
          <a:graphicData uri="http://schemas.openxmlformats.org/drawingml/2006/table">
            <a:tbl>
              <a:tblPr/>
              <a:tblGrid>
                <a:gridCol w="1910080">
                  <a:extLst>
                    <a:ext uri="{9D8B030D-6E8A-4147-A177-3AD203B41FA5}">
                      <a16:colId xmlns:a16="http://schemas.microsoft.com/office/drawing/2014/main" val="3112908486"/>
                    </a:ext>
                  </a:extLst>
                </a:gridCol>
                <a:gridCol w="1910080">
                  <a:extLst>
                    <a:ext uri="{9D8B030D-6E8A-4147-A177-3AD203B41FA5}">
                      <a16:colId xmlns:a16="http://schemas.microsoft.com/office/drawing/2014/main" val="2830829306"/>
                    </a:ext>
                  </a:extLst>
                </a:gridCol>
                <a:gridCol w="1910080">
                  <a:extLst>
                    <a:ext uri="{9D8B030D-6E8A-4147-A177-3AD203B41FA5}">
                      <a16:colId xmlns:a16="http://schemas.microsoft.com/office/drawing/2014/main" val="1038389550"/>
                    </a:ext>
                  </a:extLst>
                </a:gridCol>
              </a:tblGrid>
              <a:tr h="0">
                <a:tc>
                  <a:txBody>
                    <a:bodyPr/>
                    <a:lstStyle/>
                    <a:p>
                      <a:pPr algn="l">
                        <a:lnSpc>
                          <a:spcPts val="1875"/>
                        </a:lnSpc>
                        <a:buNone/>
                      </a:pPr>
                      <a:r>
                        <a:rPr lang="en-US" b="0">
                          <a:effectLst/>
                          <a:latin typeface="quote-cjk-patch"/>
                        </a:rPr>
                        <a:t>Option</a:t>
                      </a:r>
                    </a:p>
                  </a:txBody>
                  <a:tcPr marR="121920" marT="76200" marB="76200" anchor="ctr">
                    <a:lnL>
                      <a:noFill/>
                    </a:lnL>
                    <a:lnR>
                      <a:noFill/>
                    </a:lnR>
                    <a:lnT>
                      <a:noFill/>
                    </a:lnT>
                    <a:lnB>
                      <a:noFill/>
                    </a:lnB>
                    <a:solidFill>
                      <a:srgbClr val="FFFFFF"/>
                    </a:solidFill>
                  </a:tcPr>
                </a:tc>
                <a:tc>
                  <a:txBody>
                    <a:bodyPr/>
                    <a:lstStyle/>
                    <a:p>
                      <a:pPr algn="l">
                        <a:lnSpc>
                          <a:spcPts val="1875"/>
                        </a:lnSpc>
                        <a:buNone/>
                      </a:pPr>
                      <a:r>
                        <a:rPr lang="en-US" b="0">
                          <a:effectLst/>
                          <a:latin typeface="quote-cjk-patch"/>
                        </a:rPr>
                        <a:t>Action</a:t>
                      </a:r>
                    </a:p>
                  </a:txBody>
                  <a:tcPr marL="121920" marR="121920" marT="76200" marB="76200" anchor="ctr">
                    <a:lnL>
                      <a:noFill/>
                    </a:lnL>
                    <a:lnR>
                      <a:noFill/>
                    </a:lnR>
                    <a:lnT>
                      <a:noFill/>
                    </a:lnT>
                    <a:lnB>
                      <a:noFill/>
                    </a:lnB>
                    <a:solidFill>
                      <a:srgbClr val="FFFFFF"/>
                    </a:solidFill>
                  </a:tcPr>
                </a:tc>
                <a:tc>
                  <a:txBody>
                    <a:bodyPr/>
                    <a:lstStyle/>
                    <a:p>
                      <a:pPr algn="l">
                        <a:lnSpc>
                          <a:spcPts val="1875"/>
                        </a:lnSpc>
                        <a:buNone/>
                      </a:pPr>
                      <a:r>
                        <a:rPr lang="en-US" b="0">
                          <a:effectLst/>
                          <a:latin typeface="quote-cjk-patch"/>
                        </a:rPr>
                        <a:t>Ending</a:t>
                      </a:r>
                    </a:p>
                  </a:txBody>
                  <a:tcPr marL="121920" marR="121920" marT="76200" marB="76200" anchor="ctr">
                    <a:lnL>
                      <a:noFill/>
                    </a:lnL>
                    <a:lnR>
                      <a:noFill/>
                    </a:lnR>
                    <a:lnT>
                      <a:noFill/>
                    </a:lnT>
                    <a:lnB>
                      <a:noFill/>
                    </a:lnB>
                    <a:solidFill>
                      <a:srgbClr val="FFFFFF"/>
                    </a:solidFill>
                  </a:tcPr>
                </a:tc>
                <a:extLst>
                  <a:ext uri="{0D108BD9-81ED-4DB2-BD59-A6C34878D82A}">
                    <a16:rowId xmlns:a16="http://schemas.microsoft.com/office/drawing/2014/main" val="2430362910"/>
                  </a:ext>
                </a:extLst>
              </a:tr>
              <a:tr h="0">
                <a:tc>
                  <a:txBody>
                    <a:bodyPr/>
                    <a:lstStyle/>
                    <a:p>
                      <a:pPr>
                        <a:lnSpc>
                          <a:spcPts val="1875"/>
                        </a:lnSpc>
                        <a:buNone/>
                      </a:pPr>
                      <a:r>
                        <a:rPr lang="en-US" altLang="zh-MO" b="1">
                          <a:effectLst/>
                          <a:latin typeface="quote-cjk-patch"/>
                        </a:rPr>
                        <a:t>1</a:t>
                      </a:r>
                      <a:endParaRPr lang="zh-MO" altLang="en-US" b="0">
                        <a:effectLst/>
                        <a:latin typeface="quote-cjk-patch"/>
                      </a:endParaRPr>
                    </a:p>
                  </a:txBody>
                  <a:tcPr marR="121920" marT="76200" marB="76200" anchor="ctr">
                    <a:lnL>
                      <a:noFill/>
                    </a:lnL>
                    <a:lnR>
                      <a:noFill/>
                    </a:lnR>
                    <a:lnT>
                      <a:noFill/>
                    </a:lnT>
                    <a:lnB>
                      <a:noFill/>
                    </a:lnB>
                    <a:solidFill>
                      <a:srgbClr val="FFFFFF"/>
                    </a:solidFill>
                  </a:tcPr>
                </a:tc>
                <a:tc>
                  <a:txBody>
                    <a:bodyPr/>
                    <a:lstStyle/>
                    <a:p>
                      <a:pPr>
                        <a:lnSpc>
                          <a:spcPts val="1875"/>
                        </a:lnSpc>
                        <a:buNone/>
                      </a:pPr>
                      <a:r>
                        <a:rPr lang="en-US" b="0">
                          <a:effectLst/>
                          <a:latin typeface="quote-cjk-patch"/>
                        </a:rPr>
                        <a:t>Accept this. Stay subscribed. He still enjoys the experience.</a:t>
                      </a:r>
                    </a:p>
                  </a:txBody>
                  <a:tcPr marL="121920" marR="121920" marT="76200" marB="76200" anchor="ctr">
                    <a:lnL>
                      <a:noFill/>
                    </a:lnL>
                    <a:lnR>
                      <a:noFill/>
                    </a:lnR>
                    <a:lnT>
                      <a:noFill/>
                    </a:lnT>
                    <a:lnB>
                      <a:noFill/>
                    </a:lnB>
                    <a:solidFill>
                      <a:srgbClr val="FFFFFF"/>
                    </a:solidFill>
                  </a:tcPr>
                </a:tc>
                <a:tc>
                  <a:txBody>
                    <a:bodyPr/>
                    <a:lstStyle/>
                    <a:p>
                      <a:pPr>
                        <a:lnSpc>
                          <a:spcPts val="1875"/>
                        </a:lnSpc>
                        <a:buNone/>
                      </a:pPr>
                      <a:r>
                        <a:rPr lang="en-US" b="0" i="1">
                          <a:effectLst/>
                          <a:latin typeface="quote-cjk-patch"/>
                        </a:rPr>
                        <a:t>Ending 4: The Informed Realist</a:t>
                      </a:r>
                      <a:endParaRPr lang="en-US" b="0">
                        <a:effectLst/>
                        <a:latin typeface="quote-cjk-patch"/>
                      </a:endParaRP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1395003642"/>
                  </a:ext>
                </a:extLst>
              </a:tr>
              <a:tr h="0">
                <a:tc>
                  <a:txBody>
                    <a:bodyPr/>
                    <a:lstStyle/>
                    <a:p>
                      <a:pPr>
                        <a:lnSpc>
                          <a:spcPts val="1875"/>
                        </a:lnSpc>
                        <a:buNone/>
                      </a:pPr>
                      <a:r>
                        <a:rPr lang="en-US" altLang="zh-MO" b="1">
                          <a:effectLst/>
                          <a:latin typeface="quote-cjk-patch"/>
                        </a:rPr>
                        <a:t>2</a:t>
                      </a:r>
                      <a:endParaRPr lang="zh-MO" altLang="en-US" b="0">
                        <a:effectLst/>
                        <a:latin typeface="quote-cjk-patch"/>
                      </a:endParaRPr>
                    </a:p>
                  </a:txBody>
                  <a:tcPr marR="121920" marT="76200" marB="76200" anchor="ctr">
                    <a:lnL>
                      <a:noFill/>
                    </a:lnL>
                    <a:lnR>
                      <a:noFill/>
                    </a:lnR>
                    <a:lnT>
                      <a:noFill/>
                    </a:lnT>
                    <a:lnB>
                      <a:noFill/>
                    </a:lnB>
                    <a:solidFill>
                      <a:srgbClr val="FFFFFF"/>
                    </a:solidFill>
                  </a:tcPr>
                </a:tc>
                <a:tc>
                  <a:txBody>
                    <a:bodyPr/>
                    <a:lstStyle/>
                    <a:p>
                      <a:pPr>
                        <a:lnSpc>
                          <a:spcPts val="1875"/>
                        </a:lnSpc>
                        <a:buNone/>
                      </a:pPr>
                      <a:r>
                        <a:rPr lang="en-US" b="0">
                          <a:effectLst/>
                          <a:latin typeface="quote-cjk-patch"/>
                        </a:rPr>
                        <a:t>Unsubscribe. He feels deceived. The trust is gone.</a:t>
                      </a:r>
                    </a:p>
                  </a:txBody>
                  <a:tcPr marL="121920" marR="121920" marT="76200" marB="76200" anchor="ctr">
                    <a:lnL>
                      <a:noFill/>
                    </a:lnL>
                    <a:lnR>
                      <a:noFill/>
                    </a:lnR>
                    <a:lnT>
                      <a:noFill/>
                    </a:lnT>
                    <a:lnB>
                      <a:noFill/>
                    </a:lnB>
                    <a:solidFill>
                      <a:srgbClr val="FFFFFF"/>
                    </a:solidFill>
                  </a:tcPr>
                </a:tc>
                <a:tc>
                  <a:txBody>
                    <a:bodyPr/>
                    <a:lstStyle/>
                    <a:p>
                      <a:pPr>
                        <a:lnSpc>
                          <a:spcPts val="1875"/>
                        </a:lnSpc>
                        <a:buNone/>
                      </a:pPr>
                      <a:r>
                        <a:rPr lang="en-US" b="0" i="1">
                          <a:effectLst/>
                          <a:latin typeface="quote-cjk-patch"/>
                        </a:rPr>
                        <a:t>Ending 5: The Betrayed</a:t>
                      </a:r>
                      <a:endParaRPr lang="en-US" b="0">
                        <a:effectLst/>
                        <a:latin typeface="quote-cjk-patch"/>
                      </a:endParaRP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1145857479"/>
                  </a:ext>
                </a:extLst>
              </a:tr>
              <a:tr h="0">
                <a:tc>
                  <a:txBody>
                    <a:bodyPr/>
                    <a:lstStyle/>
                    <a:p>
                      <a:pPr>
                        <a:lnSpc>
                          <a:spcPts val="1875"/>
                        </a:lnSpc>
                        <a:buNone/>
                      </a:pPr>
                      <a:r>
                        <a:rPr lang="en-US" altLang="zh-MO" b="1">
                          <a:effectLst/>
                          <a:latin typeface="quote-cjk-patch"/>
                        </a:rPr>
                        <a:t>3</a:t>
                      </a:r>
                      <a:endParaRPr lang="zh-MO" altLang="en-US" b="0">
                        <a:effectLst/>
                        <a:latin typeface="quote-cjk-patch"/>
                      </a:endParaRPr>
                    </a:p>
                  </a:txBody>
                  <a:tcPr marR="121920" marT="76200" marB="76200" anchor="ctr">
                    <a:lnL>
                      <a:noFill/>
                    </a:lnL>
                    <a:lnR>
                      <a:noFill/>
                    </a:lnR>
                    <a:lnT>
                      <a:noFill/>
                    </a:lnT>
                    <a:lnB>
                      <a:noFill/>
                    </a:lnB>
                    <a:solidFill>
                      <a:srgbClr val="FFFFFF"/>
                    </a:solidFill>
                  </a:tcPr>
                </a:tc>
                <a:tc>
                  <a:txBody>
                    <a:bodyPr/>
                    <a:lstStyle/>
                    <a:p>
                      <a:pPr>
                        <a:lnSpc>
                          <a:spcPts val="1875"/>
                        </a:lnSpc>
                        <a:buNone/>
                      </a:pPr>
                      <a:r>
                        <a:rPr lang="en-US" b="0">
                          <a:effectLst/>
                          <a:latin typeface="quote-cjk-patch"/>
                        </a:rPr>
                        <a:t>Ask for a video call to verify she's real. Offer to pay extra.</a:t>
                      </a:r>
                    </a:p>
                  </a:txBody>
                  <a:tcPr marL="121920" marR="121920" marT="76200" marB="76200" anchor="ctr">
                    <a:lnL>
                      <a:noFill/>
                    </a:lnL>
                    <a:lnR>
                      <a:noFill/>
                    </a:lnR>
                    <a:lnT>
                      <a:noFill/>
                    </a:lnT>
                    <a:lnB>
                      <a:noFill/>
                    </a:lnB>
                    <a:solidFill>
                      <a:srgbClr val="FFFFFF"/>
                    </a:solidFill>
                  </a:tcPr>
                </a:tc>
                <a:tc>
                  <a:txBody>
                    <a:bodyPr/>
                    <a:lstStyle/>
                    <a:p>
                      <a:pPr>
                        <a:lnSpc>
                          <a:spcPts val="1875"/>
                        </a:lnSpc>
                        <a:buNone/>
                      </a:pPr>
                      <a:r>
                        <a:rPr lang="en-US" b="0" i="1" dirty="0">
                          <a:effectLst/>
                          <a:latin typeface="quote-cjk-patch"/>
                        </a:rPr>
                        <a:t>Ending 6: The Verification Seeker</a:t>
                      </a:r>
                      <a:endParaRPr lang="en-US" b="0" dirty="0">
                        <a:effectLst/>
                        <a:latin typeface="quote-cjk-patch"/>
                      </a:endParaRP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1202275974"/>
                  </a:ext>
                </a:extLst>
              </a:tr>
            </a:tbl>
          </a:graphicData>
        </a:graphic>
      </p:graphicFrame>
    </p:spTree>
    <p:extLst>
      <p:ext uri="{BB962C8B-B14F-4D97-AF65-F5344CB8AC3E}">
        <p14:creationId xmlns:p14="http://schemas.microsoft.com/office/powerpoint/2010/main" val="458895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D6AD8B-502A-E866-95A4-F26E4A585CBE}"/>
              </a:ext>
            </a:extLst>
          </p:cNvPr>
          <p:cNvSpPr>
            <a:spLocks noGrp="1"/>
          </p:cNvSpPr>
          <p:nvPr>
            <p:ph type="title"/>
          </p:nvPr>
        </p:nvSpPr>
        <p:spPr/>
        <p:txBody>
          <a:bodyPr/>
          <a:lstStyle/>
          <a:p>
            <a:endParaRPr lang="zh-MO" altLang="en-US"/>
          </a:p>
        </p:txBody>
      </p:sp>
      <p:sp>
        <p:nvSpPr>
          <p:cNvPr id="3" name="內容版面配置區 2">
            <a:extLst>
              <a:ext uri="{FF2B5EF4-FFF2-40B4-BE49-F238E27FC236}">
                <a16:creationId xmlns:a16="http://schemas.microsoft.com/office/drawing/2014/main" id="{9C7004E8-A6EF-1EA1-A837-AE2DEEBAFE79}"/>
              </a:ext>
            </a:extLst>
          </p:cNvPr>
          <p:cNvSpPr>
            <a:spLocks noGrp="1"/>
          </p:cNvSpPr>
          <p:nvPr>
            <p:ph idx="1"/>
          </p:nvPr>
        </p:nvSpPr>
        <p:spPr/>
        <p:txBody>
          <a:bodyPr/>
          <a:lstStyle/>
          <a:p>
            <a:r>
              <a:rPr lang="en-US" altLang="zh-MO" b="1" dirty="0"/>
              <a:t>Scene 8: Willful Ignorance</a:t>
            </a:r>
          </a:p>
          <a:p>
            <a:r>
              <a:rPr lang="en-US" altLang="zh-MO" b="1" dirty="0"/>
              <a:t>Setting:</a:t>
            </a:r>
            <a:r>
              <a:rPr lang="en-US" altLang="zh-MO" dirty="0"/>
              <a:t> Alex notices the signs—the fast replies, the perfect grammar, the slightly generic warmth. But he chooses not to investigate. He tells himself: </a:t>
            </a:r>
            <a:r>
              <a:rPr lang="en-US" altLang="zh-MO" i="1" dirty="0"/>
              <a:t>"The experience is good. Why ruin it?"</a:t>
            </a:r>
            <a:endParaRPr lang="en-US" altLang="zh-MO" dirty="0"/>
          </a:p>
          <a:p>
            <a:r>
              <a:rPr lang="en-US" altLang="zh-MO" dirty="0"/>
              <a:t>He continues subscribing. He continues tipping. He continues feeling less lonely.</a:t>
            </a:r>
          </a:p>
          <a:p>
            <a:endParaRPr lang="zh-MO" altLang="en-US" dirty="0"/>
          </a:p>
        </p:txBody>
      </p:sp>
    </p:spTree>
    <p:extLst>
      <p:ext uri="{BB962C8B-B14F-4D97-AF65-F5344CB8AC3E}">
        <p14:creationId xmlns:p14="http://schemas.microsoft.com/office/powerpoint/2010/main" val="1704510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6DC117-E2AC-1ADA-FBAC-75F13B70957E}"/>
              </a:ext>
            </a:extLst>
          </p:cNvPr>
          <p:cNvSpPr>
            <a:spLocks noGrp="1"/>
          </p:cNvSpPr>
          <p:nvPr>
            <p:ph type="title"/>
          </p:nvPr>
        </p:nvSpPr>
        <p:spPr/>
        <p:txBody>
          <a:bodyPr/>
          <a:lstStyle/>
          <a:p>
            <a:r>
              <a:rPr lang="en-US" altLang="zh-MO" b="1" dirty="0"/>
              <a:t>Audience Choice H – Does Alex ever check?</a:t>
            </a:r>
            <a:endParaRPr lang="zh-MO" altLang="en-US" dirty="0"/>
          </a:p>
        </p:txBody>
      </p:sp>
      <p:graphicFrame>
        <p:nvGraphicFramePr>
          <p:cNvPr id="4" name="內容版面配置區 3">
            <a:extLst>
              <a:ext uri="{FF2B5EF4-FFF2-40B4-BE49-F238E27FC236}">
                <a16:creationId xmlns:a16="http://schemas.microsoft.com/office/drawing/2014/main" id="{D7F05A31-B93C-1800-2A3D-FC10813B4EB2}"/>
              </a:ext>
            </a:extLst>
          </p:cNvPr>
          <p:cNvGraphicFramePr>
            <a:graphicFrameLocks noGrp="1"/>
          </p:cNvGraphicFramePr>
          <p:nvPr>
            <p:ph idx="1"/>
          </p:nvPr>
        </p:nvGraphicFramePr>
        <p:xfrm>
          <a:off x="3230880" y="2807494"/>
          <a:ext cx="5730240" cy="2387600"/>
        </p:xfrm>
        <a:graphic>
          <a:graphicData uri="http://schemas.openxmlformats.org/drawingml/2006/table">
            <a:tbl>
              <a:tblPr/>
              <a:tblGrid>
                <a:gridCol w="1910080">
                  <a:extLst>
                    <a:ext uri="{9D8B030D-6E8A-4147-A177-3AD203B41FA5}">
                      <a16:colId xmlns:a16="http://schemas.microsoft.com/office/drawing/2014/main" val="1676068020"/>
                    </a:ext>
                  </a:extLst>
                </a:gridCol>
                <a:gridCol w="1910080">
                  <a:extLst>
                    <a:ext uri="{9D8B030D-6E8A-4147-A177-3AD203B41FA5}">
                      <a16:colId xmlns:a16="http://schemas.microsoft.com/office/drawing/2014/main" val="1234820429"/>
                    </a:ext>
                  </a:extLst>
                </a:gridCol>
                <a:gridCol w="1910080">
                  <a:extLst>
                    <a:ext uri="{9D8B030D-6E8A-4147-A177-3AD203B41FA5}">
                      <a16:colId xmlns:a16="http://schemas.microsoft.com/office/drawing/2014/main" val="3519721233"/>
                    </a:ext>
                  </a:extLst>
                </a:gridCol>
              </a:tblGrid>
              <a:tr h="0">
                <a:tc>
                  <a:txBody>
                    <a:bodyPr/>
                    <a:lstStyle/>
                    <a:p>
                      <a:pPr algn="l">
                        <a:lnSpc>
                          <a:spcPts val="1875"/>
                        </a:lnSpc>
                        <a:buNone/>
                      </a:pPr>
                      <a:r>
                        <a:rPr lang="en-US" b="0">
                          <a:effectLst/>
                          <a:latin typeface="quote-cjk-patch"/>
                        </a:rPr>
                        <a:t>Option</a:t>
                      </a:r>
                    </a:p>
                  </a:txBody>
                  <a:tcPr marR="121920" marT="76200" marB="76200" anchor="ctr">
                    <a:lnL>
                      <a:noFill/>
                    </a:lnL>
                    <a:lnR>
                      <a:noFill/>
                    </a:lnR>
                    <a:lnT>
                      <a:noFill/>
                    </a:lnT>
                    <a:lnB>
                      <a:noFill/>
                    </a:lnB>
                    <a:solidFill>
                      <a:srgbClr val="FFFFFF"/>
                    </a:solidFill>
                  </a:tcPr>
                </a:tc>
                <a:tc>
                  <a:txBody>
                    <a:bodyPr/>
                    <a:lstStyle/>
                    <a:p>
                      <a:pPr algn="l">
                        <a:lnSpc>
                          <a:spcPts val="1875"/>
                        </a:lnSpc>
                        <a:buNone/>
                      </a:pPr>
                      <a:r>
                        <a:rPr lang="en-US" b="0">
                          <a:effectLst/>
                          <a:latin typeface="quote-cjk-patch"/>
                        </a:rPr>
                        <a:t>Action</a:t>
                      </a:r>
                    </a:p>
                  </a:txBody>
                  <a:tcPr marL="121920" marR="121920" marT="76200" marB="76200" anchor="ctr">
                    <a:lnL>
                      <a:noFill/>
                    </a:lnL>
                    <a:lnR>
                      <a:noFill/>
                    </a:lnR>
                    <a:lnT>
                      <a:noFill/>
                    </a:lnT>
                    <a:lnB>
                      <a:noFill/>
                    </a:lnB>
                    <a:solidFill>
                      <a:srgbClr val="FFFFFF"/>
                    </a:solidFill>
                  </a:tcPr>
                </a:tc>
                <a:tc>
                  <a:txBody>
                    <a:bodyPr/>
                    <a:lstStyle/>
                    <a:p>
                      <a:pPr algn="l">
                        <a:lnSpc>
                          <a:spcPts val="1875"/>
                        </a:lnSpc>
                        <a:buNone/>
                      </a:pPr>
                      <a:r>
                        <a:rPr lang="en-US" b="0">
                          <a:effectLst/>
                          <a:latin typeface="quote-cjk-patch"/>
                        </a:rPr>
                        <a:t>Ending</a:t>
                      </a:r>
                    </a:p>
                  </a:txBody>
                  <a:tcPr marL="121920" marR="121920" marT="76200" marB="76200" anchor="ctr">
                    <a:lnL>
                      <a:noFill/>
                    </a:lnL>
                    <a:lnR>
                      <a:noFill/>
                    </a:lnR>
                    <a:lnT>
                      <a:noFill/>
                    </a:lnT>
                    <a:lnB>
                      <a:noFill/>
                    </a:lnB>
                    <a:solidFill>
                      <a:srgbClr val="FFFFFF"/>
                    </a:solidFill>
                  </a:tcPr>
                </a:tc>
                <a:extLst>
                  <a:ext uri="{0D108BD9-81ED-4DB2-BD59-A6C34878D82A}">
                    <a16:rowId xmlns:a16="http://schemas.microsoft.com/office/drawing/2014/main" val="225191454"/>
                  </a:ext>
                </a:extLst>
              </a:tr>
              <a:tr h="0">
                <a:tc>
                  <a:txBody>
                    <a:bodyPr/>
                    <a:lstStyle/>
                    <a:p>
                      <a:pPr>
                        <a:lnSpc>
                          <a:spcPts val="1875"/>
                        </a:lnSpc>
                        <a:buNone/>
                      </a:pPr>
                      <a:r>
                        <a:rPr lang="en-US" altLang="zh-MO" b="1">
                          <a:effectLst/>
                          <a:latin typeface="quote-cjk-patch"/>
                        </a:rPr>
                        <a:t>1</a:t>
                      </a:r>
                      <a:endParaRPr lang="zh-MO" altLang="en-US" b="0">
                        <a:effectLst/>
                        <a:latin typeface="quote-cjk-patch"/>
                      </a:endParaRPr>
                    </a:p>
                  </a:txBody>
                  <a:tcPr marR="121920" marT="76200" marB="76200" anchor="ctr">
                    <a:lnL>
                      <a:noFill/>
                    </a:lnL>
                    <a:lnR>
                      <a:noFill/>
                    </a:lnR>
                    <a:lnT>
                      <a:noFill/>
                    </a:lnT>
                    <a:lnB>
                      <a:noFill/>
                    </a:lnB>
                    <a:solidFill>
                      <a:srgbClr val="FFFFFF"/>
                    </a:solidFill>
                  </a:tcPr>
                </a:tc>
                <a:tc>
                  <a:txBody>
                    <a:bodyPr/>
                    <a:lstStyle/>
                    <a:p>
                      <a:pPr>
                        <a:lnSpc>
                          <a:spcPts val="1875"/>
                        </a:lnSpc>
                        <a:buNone/>
                      </a:pPr>
                      <a:r>
                        <a:rPr lang="en-US" b="0">
                          <a:effectLst/>
                          <a:latin typeface="quote-cjk-patch"/>
                        </a:rPr>
                        <a:t>No. He never checks. He stays subscribed for a year.</a:t>
                      </a:r>
                    </a:p>
                  </a:txBody>
                  <a:tcPr marL="121920" marR="121920" marT="76200" marB="76200" anchor="ctr">
                    <a:lnL>
                      <a:noFill/>
                    </a:lnL>
                    <a:lnR>
                      <a:noFill/>
                    </a:lnR>
                    <a:lnT>
                      <a:noFill/>
                    </a:lnT>
                    <a:lnB>
                      <a:noFill/>
                    </a:lnB>
                    <a:solidFill>
                      <a:srgbClr val="FFFFFF"/>
                    </a:solidFill>
                  </a:tcPr>
                </a:tc>
                <a:tc>
                  <a:txBody>
                    <a:bodyPr/>
                    <a:lstStyle/>
                    <a:p>
                      <a:pPr>
                        <a:lnSpc>
                          <a:spcPts val="1875"/>
                        </a:lnSpc>
                        <a:buNone/>
                      </a:pPr>
                      <a:r>
                        <a:rPr lang="en-US" b="0" i="1">
                          <a:effectLst/>
                          <a:latin typeface="quote-cjk-patch"/>
                        </a:rPr>
                        <a:t>Ending 7: The Happy Ignorant</a:t>
                      </a:r>
                      <a:endParaRPr lang="en-US" b="0">
                        <a:effectLst/>
                        <a:latin typeface="quote-cjk-patch"/>
                      </a:endParaRP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3764841532"/>
                  </a:ext>
                </a:extLst>
              </a:tr>
              <a:tr h="0">
                <a:tc>
                  <a:txBody>
                    <a:bodyPr/>
                    <a:lstStyle/>
                    <a:p>
                      <a:pPr>
                        <a:lnSpc>
                          <a:spcPts val="1875"/>
                        </a:lnSpc>
                        <a:buNone/>
                      </a:pPr>
                      <a:r>
                        <a:rPr lang="en-US" altLang="zh-MO" b="1">
                          <a:effectLst/>
                          <a:latin typeface="quote-cjk-patch"/>
                        </a:rPr>
                        <a:t>2</a:t>
                      </a:r>
                      <a:endParaRPr lang="zh-MO" altLang="en-US" b="0">
                        <a:effectLst/>
                        <a:latin typeface="quote-cjk-patch"/>
                      </a:endParaRPr>
                    </a:p>
                  </a:txBody>
                  <a:tcPr marR="121920" marT="76200" marB="76200" anchor="ctr">
                    <a:lnL>
                      <a:noFill/>
                    </a:lnL>
                    <a:lnR>
                      <a:noFill/>
                    </a:lnR>
                    <a:lnT>
                      <a:noFill/>
                    </a:lnT>
                    <a:lnB>
                      <a:noFill/>
                    </a:lnB>
                    <a:solidFill>
                      <a:srgbClr val="FFFFFF"/>
                    </a:solidFill>
                  </a:tcPr>
                </a:tc>
                <a:tc>
                  <a:txBody>
                    <a:bodyPr/>
                    <a:lstStyle/>
                    <a:p>
                      <a:pPr>
                        <a:lnSpc>
                          <a:spcPts val="1875"/>
                        </a:lnSpc>
                        <a:buNone/>
                      </a:pPr>
                      <a:r>
                        <a:rPr lang="en-US" b="0">
                          <a:effectLst/>
                          <a:latin typeface="quote-cjk-patch"/>
                        </a:rPr>
                        <a:t>Yes. One day, curiosity wins. He asks.</a:t>
                      </a:r>
                    </a:p>
                  </a:txBody>
                  <a:tcPr marL="121920" marR="121920" marT="76200" marB="76200" anchor="ctr">
                    <a:lnL>
                      <a:noFill/>
                    </a:lnL>
                    <a:lnR>
                      <a:noFill/>
                    </a:lnR>
                    <a:lnT>
                      <a:noFill/>
                    </a:lnT>
                    <a:lnB>
                      <a:noFill/>
                    </a:lnB>
                    <a:solidFill>
                      <a:srgbClr val="FFFFFF"/>
                    </a:solidFill>
                  </a:tcPr>
                </a:tc>
                <a:tc>
                  <a:txBody>
                    <a:bodyPr/>
                    <a:lstStyle/>
                    <a:p>
                      <a:pPr>
                        <a:lnSpc>
                          <a:spcPts val="1875"/>
                        </a:lnSpc>
                        <a:buNone/>
                      </a:pPr>
                      <a:r>
                        <a:rPr lang="en-US" b="0" i="1" dirty="0">
                          <a:effectLst/>
                          <a:latin typeface="quote-cjk-patch"/>
                        </a:rPr>
                        <a:t>Proceeds to Scene 7 – The Confrontation</a:t>
                      </a:r>
                      <a:endParaRPr lang="en-US" b="0" dirty="0">
                        <a:effectLst/>
                        <a:latin typeface="quote-cjk-patch"/>
                      </a:endParaRP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1590873800"/>
                  </a:ext>
                </a:extLst>
              </a:tr>
            </a:tbl>
          </a:graphicData>
        </a:graphic>
      </p:graphicFrame>
    </p:spTree>
    <p:extLst>
      <p:ext uri="{BB962C8B-B14F-4D97-AF65-F5344CB8AC3E}">
        <p14:creationId xmlns:p14="http://schemas.microsoft.com/office/powerpoint/2010/main" val="1463931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C23FD4-21DD-50BB-1F00-F4634757F4BD}"/>
              </a:ext>
            </a:extLst>
          </p:cNvPr>
          <p:cNvSpPr>
            <a:spLocks noGrp="1"/>
          </p:cNvSpPr>
          <p:nvPr>
            <p:ph type="title"/>
          </p:nvPr>
        </p:nvSpPr>
        <p:spPr/>
        <p:txBody>
          <a:bodyPr/>
          <a:lstStyle/>
          <a:p>
            <a:endParaRPr lang="zh-MO" altLang="en-US"/>
          </a:p>
        </p:txBody>
      </p:sp>
      <p:sp>
        <p:nvSpPr>
          <p:cNvPr id="3" name="內容版面配置區 2">
            <a:extLst>
              <a:ext uri="{FF2B5EF4-FFF2-40B4-BE49-F238E27FC236}">
                <a16:creationId xmlns:a16="http://schemas.microsoft.com/office/drawing/2014/main" id="{2A421D8B-28CB-F58D-1307-F51571CD020F}"/>
              </a:ext>
            </a:extLst>
          </p:cNvPr>
          <p:cNvSpPr>
            <a:spLocks noGrp="1"/>
          </p:cNvSpPr>
          <p:nvPr>
            <p:ph idx="1"/>
          </p:nvPr>
        </p:nvSpPr>
        <p:spPr/>
        <p:txBody>
          <a:bodyPr/>
          <a:lstStyle/>
          <a:p>
            <a:r>
              <a:rPr lang="en-US" altLang="zh-MO" b="1" dirty="0"/>
              <a:t>Scene 9: The Wounded Exit</a:t>
            </a:r>
          </a:p>
          <a:p>
            <a:r>
              <a:rPr lang="en-US" altLang="zh-MO" b="1" dirty="0"/>
              <a:t>Setting:</a:t>
            </a:r>
            <a:r>
              <a:rPr lang="en-US" altLang="zh-MO" dirty="0"/>
              <a:t> Alex unsubscribes immediately. He doesn't ask questions. He doesn't explain. He just cancels.</a:t>
            </a:r>
          </a:p>
          <a:p>
            <a:r>
              <a:rPr lang="en-US" altLang="zh-MO" dirty="0"/>
              <a:t>For weeks afterward, he feels embarrassed. He told her things he hasn't told his real friends. He wonders if a chatter or an AI knows his vulnerabilities now.</a:t>
            </a:r>
          </a:p>
          <a:p>
            <a:r>
              <a:rPr lang="en-US" altLang="zh-MO" dirty="0"/>
              <a:t>He doesn't subscribe to anyone again.</a:t>
            </a:r>
          </a:p>
          <a:p>
            <a:r>
              <a:rPr lang="en-US" altLang="zh-MO" b="1" dirty="0"/>
              <a:t>Ending reached:</a:t>
            </a:r>
            <a:r>
              <a:rPr lang="en-US" altLang="zh-MO" dirty="0"/>
              <a:t> </a:t>
            </a:r>
            <a:r>
              <a:rPr lang="en-US" altLang="zh-MO" i="1" dirty="0"/>
              <a:t>Ending 5: The Betrayed</a:t>
            </a:r>
            <a:br>
              <a:rPr lang="en-US" altLang="zh-MO" dirty="0"/>
            </a:br>
            <a:endParaRPr lang="zh-MO" altLang="en-US" dirty="0"/>
          </a:p>
        </p:txBody>
      </p:sp>
    </p:spTree>
    <p:extLst>
      <p:ext uri="{BB962C8B-B14F-4D97-AF65-F5344CB8AC3E}">
        <p14:creationId xmlns:p14="http://schemas.microsoft.com/office/powerpoint/2010/main" val="711483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F833E6-B339-6E6C-FCBE-47B9DFE70B10}"/>
              </a:ext>
            </a:extLst>
          </p:cNvPr>
          <p:cNvSpPr>
            <a:spLocks noGrp="1"/>
          </p:cNvSpPr>
          <p:nvPr>
            <p:ph type="title"/>
          </p:nvPr>
        </p:nvSpPr>
        <p:spPr/>
        <p:txBody>
          <a:bodyPr/>
          <a:lstStyle/>
          <a:p>
            <a:endParaRPr lang="zh-MO" altLang="en-US"/>
          </a:p>
        </p:txBody>
      </p:sp>
      <p:graphicFrame>
        <p:nvGraphicFramePr>
          <p:cNvPr id="4" name="內容版面配置區 3">
            <a:extLst>
              <a:ext uri="{FF2B5EF4-FFF2-40B4-BE49-F238E27FC236}">
                <a16:creationId xmlns:a16="http://schemas.microsoft.com/office/drawing/2014/main" id="{D24B3D12-0BCE-A277-3BAA-B4FDB2E8878D}"/>
              </a:ext>
            </a:extLst>
          </p:cNvPr>
          <p:cNvGraphicFramePr>
            <a:graphicFrameLocks noGrp="1"/>
          </p:cNvGraphicFramePr>
          <p:nvPr>
            <p:ph idx="1"/>
            <p:extLst>
              <p:ext uri="{D42A27DB-BD31-4B8C-83A1-F6EECF244321}">
                <p14:modId xmlns:p14="http://schemas.microsoft.com/office/powerpoint/2010/main" val="1888602016"/>
              </p:ext>
            </p:extLst>
          </p:nvPr>
        </p:nvGraphicFramePr>
        <p:xfrm>
          <a:off x="487680" y="176081"/>
          <a:ext cx="10866120" cy="6681919"/>
        </p:xfrm>
        <a:graphic>
          <a:graphicData uri="http://schemas.openxmlformats.org/drawingml/2006/table">
            <a:tbl>
              <a:tblPr/>
              <a:tblGrid>
                <a:gridCol w="2479164">
                  <a:extLst>
                    <a:ext uri="{9D8B030D-6E8A-4147-A177-3AD203B41FA5}">
                      <a16:colId xmlns:a16="http://schemas.microsoft.com/office/drawing/2014/main" val="4170464200"/>
                    </a:ext>
                  </a:extLst>
                </a:gridCol>
                <a:gridCol w="2795652">
                  <a:extLst>
                    <a:ext uri="{9D8B030D-6E8A-4147-A177-3AD203B41FA5}">
                      <a16:colId xmlns:a16="http://schemas.microsoft.com/office/drawing/2014/main" val="2123017449"/>
                    </a:ext>
                  </a:extLst>
                </a:gridCol>
                <a:gridCol w="2795652">
                  <a:extLst>
                    <a:ext uri="{9D8B030D-6E8A-4147-A177-3AD203B41FA5}">
                      <a16:colId xmlns:a16="http://schemas.microsoft.com/office/drawing/2014/main" val="1267881505"/>
                    </a:ext>
                  </a:extLst>
                </a:gridCol>
                <a:gridCol w="2795652">
                  <a:extLst>
                    <a:ext uri="{9D8B030D-6E8A-4147-A177-3AD203B41FA5}">
                      <a16:colId xmlns:a16="http://schemas.microsoft.com/office/drawing/2014/main" val="1562400276"/>
                    </a:ext>
                  </a:extLst>
                </a:gridCol>
              </a:tblGrid>
              <a:tr h="434110">
                <a:tc>
                  <a:txBody>
                    <a:bodyPr/>
                    <a:lstStyle/>
                    <a:p>
                      <a:pPr algn="l">
                        <a:lnSpc>
                          <a:spcPts val="1875"/>
                        </a:lnSpc>
                        <a:buNone/>
                      </a:pPr>
                      <a:r>
                        <a:rPr lang="en-US" sz="1600" b="0">
                          <a:effectLst/>
                          <a:latin typeface="quote-cjk-patch"/>
                        </a:rPr>
                        <a:t>Ending</a:t>
                      </a:r>
                    </a:p>
                  </a:txBody>
                  <a:tcPr marL="53101" marR="70801" marT="44251" marB="44251" anchor="ctr">
                    <a:lnL>
                      <a:noFill/>
                    </a:lnL>
                    <a:lnR>
                      <a:noFill/>
                    </a:lnR>
                    <a:lnT>
                      <a:noFill/>
                    </a:lnT>
                    <a:lnB>
                      <a:noFill/>
                    </a:lnB>
                    <a:solidFill>
                      <a:srgbClr val="FFFFFF"/>
                    </a:solidFill>
                  </a:tcPr>
                </a:tc>
                <a:tc>
                  <a:txBody>
                    <a:bodyPr/>
                    <a:lstStyle/>
                    <a:p>
                      <a:pPr algn="l">
                        <a:lnSpc>
                          <a:spcPts val="1875"/>
                        </a:lnSpc>
                        <a:buNone/>
                      </a:pPr>
                      <a:r>
                        <a:rPr lang="en-US" sz="1600" b="0">
                          <a:effectLst/>
                          <a:latin typeface="quote-cjk-patch"/>
                        </a:rPr>
                        <a:t>Alex's Outcome</a:t>
                      </a:r>
                    </a:p>
                  </a:txBody>
                  <a:tcPr marL="70801" marR="70801" marT="44251" marB="44251" anchor="ctr">
                    <a:lnL>
                      <a:noFill/>
                    </a:lnL>
                    <a:lnR>
                      <a:noFill/>
                    </a:lnR>
                    <a:lnT>
                      <a:noFill/>
                    </a:lnT>
                    <a:lnB>
                      <a:noFill/>
                    </a:lnB>
                    <a:solidFill>
                      <a:srgbClr val="FFFFFF"/>
                    </a:solidFill>
                  </a:tcPr>
                </a:tc>
                <a:tc>
                  <a:txBody>
                    <a:bodyPr/>
                    <a:lstStyle/>
                    <a:p>
                      <a:pPr algn="l">
                        <a:lnSpc>
                          <a:spcPts val="1875"/>
                        </a:lnSpc>
                        <a:buNone/>
                      </a:pPr>
                      <a:r>
                        <a:rPr lang="en-US" sz="1600" b="0">
                          <a:effectLst/>
                          <a:latin typeface="quote-cjk-patch"/>
                        </a:rPr>
                        <a:t>Interview Archetype</a:t>
                      </a:r>
                    </a:p>
                  </a:txBody>
                  <a:tcPr marL="70801" marR="70801" marT="44251" marB="44251" anchor="ctr">
                    <a:lnL>
                      <a:noFill/>
                    </a:lnL>
                    <a:lnR>
                      <a:noFill/>
                    </a:lnR>
                    <a:lnT>
                      <a:noFill/>
                    </a:lnT>
                    <a:lnB>
                      <a:noFill/>
                    </a:lnB>
                    <a:solidFill>
                      <a:srgbClr val="FFFFFF"/>
                    </a:solidFill>
                  </a:tcPr>
                </a:tc>
                <a:tc>
                  <a:txBody>
                    <a:bodyPr/>
                    <a:lstStyle/>
                    <a:p>
                      <a:pPr algn="l">
                        <a:lnSpc>
                          <a:spcPts val="1875"/>
                        </a:lnSpc>
                        <a:buNone/>
                      </a:pPr>
                      <a:r>
                        <a:rPr lang="en-US" sz="1600" b="0">
                          <a:effectLst/>
                          <a:latin typeface="quote-cjk-patch"/>
                        </a:rPr>
                        <a:t>Concept Illustrated</a:t>
                      </a:r>
                    </a:p>
                  </a:txBody>
                  <a:tcPr marL="70801" marR="70801" marT="44251" marB="44251" anchor="ctr">
                    <a:lnL>
                      <a:noFill/>
                    </a:lnL>
                    <a:lnR>
                      <a:noFill/>
                    </a:lnR>
                    <a:lnT>
                      <a:noFill/>
                    </a:lnT>
                    <a:lnB>
                      <a:noFill/>
                    </a:lnB>
                    <a:solidFill>
                      <a:srgbClr val="FFFFFF"/>
                    </a:solidFill>
                  </a:tcPr>
                </a:tc>
                <a:extLst>
                  <a:ext uri="{0D108BD9-81ED-4DB2-BD59-A6C34878D82A}">
                    <a16:rowId xmlns:a16="http://schemas.microsoft.com/office/drawing/2014/main" val="590256826"/>
                  </a:ext>
                </a:extLst>
              </a:tr>
              <a:tr h="929829">
                <a:tc>
                  <a:txBody>
                    <a:bodyPr/>
                    <a:lstStyle/>
                    <a:p>
                      <a:pPr>
                        <a:lnSpc>
                          <a:spcPts val="1875"/>
                        </a:lnSpc>
                        <a:buNone/>
                      </a:pPr>
                      <a:r>
                        <a:rPr lang="en-US" sz="1600" b="1">
                          <a:effectLst/>
                          <a:latin typeface="quote-cjk-patch"/>
                        </a:rPr>
                        <a:t>1: The Skeptic</a:t>
                      </a:r>
                      <a:endParaRPr lang="en-US" sz="1600" b="0">
                        <a:effectLst/>
                        <a:latin typeface="quote-cjk-patch"/>
                      </a:endParaRPr>
                    </a:p>
                  </a:txBody>
                  <a:tcPr marL="53101" marR="70801" marT="44251" marB="44251" anchor="ctr">
                    <a:lnL>
                      <a:noFill/>
                    </a:lnL>
                    <a:lnR>
                      <a:noFill/>
                    </a:lnR>
                    <a:lnT>
                      <a:noFill/>
                    </a:lnT>
                    <a:lnB>
                      <a:noFill/>
                    </a:lnB>
                    <a:solidFill>
                      <a:srgbClr val="FFFFFF"/>
                    </a:solidFill>
                  </a:tcPr>
                </a:tc>
                <a:tc>
                  <a:txBody>
                    <a:bodyPr/>
                    <a:lstStyle/>
                    <a:p>
                      <a:pPr>
                        <a:lnSpc>
                          <a:spcPts val="1875"/>
                        </a:lnSpc>
                        <a:buNone/>
                      </a:pPr>
                      <a:r>
                        <a:rPr lang="en-US" sz="1600" b="0">
                          <a:effectLst/>
                          <a:latin typeface="quote-cjk-patch"/>
                        </a:rPr>
                        <a:t>Closes the tab. Never subscribes. Feels briefly superior, then lonely again.</a:t>
                      </a:r>
                    </a:p>
                  </a:txBody>
                  <a:tcPr marL="70801" marR="70801" marT="44251" marB="44251" anchor="ctr">
                    <a:lnL>
                      <a:noFill/>
                    </a:lnL>
                    <a:lnR>
                      <a:noFill/>
                    </a:lnR>
                    <a:lnT>
                      <a:noFill/>
                    </a:lnT>
                    <a:lnB>
                      <a:noFill/>
                    </a:lnB>
                    <a:solidFill>
                      <a:srgbClr val="FFFFFF"/>
                    </a:solidFill>
                  </a:tcPr>
                </a:tc>
                <a:tc>
                  <a:txBody>
                    <a:bodyPr/>
                    <a:lstStyle/>
                    <a:p>
                      <a:pPr>
                        <a:lnSpc>
                          <a:spcPts val="1875"/>
                        </a:lnSpc>
                        <a:buNone/>
                      </a:pPr>
                      <a:r>
                        <a:rPr lang="en-US" sz="1600" b="0" i="1">
                          <a:effectLst/>
                          <a:latin typeface="quote-cjk-patch"/>
                        </a:rPr>
                        <a:t>Non-user</a:t>
                      </a:r>
                      <a:endParaRPr lang="en-US" sz="1600" b="0">
                        <a:effectLst/>
                        <a:latin typeface="quote-cjk-patch"/>
                      </a:endParaRPr>
                    </a:p>
                  </a:txBody>
                  <a:tcPr marL="70801" marR="70801" marT="44251" marB="44251" anchor="ctr">
                    <a:lnL>
                      <a:noFill/>
                    </a:lnL>
                    <a:lnR>
                      <a:noFill/>
                    </a:lnR>
                    <a:lnT>
                      <a:noFill/>
                    </a:lnT>
                    <a:lnB>
                      <a:noFill/>
                    </a:lnB>
                    <a:solidFill>
                      <a:srgbClr val="FFFFFF"/>
                    </a:solidFill>
                  </a:tcPr>
                </a:tc>
                <a:tc>
                  <a:txBody>
                    <a:bodyPr/>
                    <a:lstStyle/>
                    <a:p>
                      <a:pPr>
                        <a:lnSpc>
                          <a:spcPts val="1875"/>
                        </a:lnSpc>
                        <a:buNone/>
                      </a:pPr>
                      <a:r>
                        <a:rPr lang="en-US" sz="1600" b="0" dirty="0">
                          <a:effectLst/>
                          <a:latin typeface="quote-cjk-patch"/>
                        </a:rPr>
                        <a:t>Jamieson: Intimacy requires risk. Alex chose safety over connection.</a:t>
                      </a:r>
                    </a:p>
                  </a:txBody>
                  <a:tcPr marL="70801" marR="53101" marT="44251" marB="44251" anchor="ctr">
                    <a:lnL>
                      <a:noFill/>
                    </a:lnL>
                    <a:lnR>
                      <a:noFill/>
                    </a:lnR>
                    <a:lnT>
                      <a:noFill/>
                    </a:lnT>
                    <a:lnB>
                      <a:noFill/>
                    </a:lnB>
                    <a:solidFill>
                      <a:srgbClr val="FFFFFF"/>
                    </a:solidFill>
                  </a:tcPr>
                </a:tc>
                <a:extLst>
                  <a:ext uri="{0D108BD9-81ED-4DB2-BD59-A6C34878D82A}">
                    <a16:rowId xmlns:a16="http://schemas.microsoft.com/office/drawing/2014/main" val="2367195728"/>
                  </a:ext>
                </a:extLst>
              </a:tr>
              <a:tr h="929829">
                <a:tc>
                  <a:txBody>
                    <a:bodyPr/>
                    <a:lstStyle/>
                    <a:p>
                      <a:pPr>
                        <a:lnSpc>
                          <a:spcPts val="1875"/>
                        </a:lnSpc>
                        <a:buNone/>
                      </a:pPr>
                      <a:r>
                        <a:rPr lang="en-US" sz="1600" b="1">
                          <a:effectLst/>
                          <a:latin typeface="quote-cjk-patch"/>
                        </a:rPr>
                        <a:t>2: The Rational Consumer</a:t>
                      </a:r>
                      <a:endParaRPr lang="en-US" sz="1600" b="0">
                        <a:effectLst/>
                        <a:latin typeface="quote-cjk-patch"/>
                      </a:endParaRPr>
                    </a:p>
                  </a:txBody>
                  <a:tcPr marL="53101" marR="70801" marT="44251" marB="44251" anchor="ctr">
                    <a:lnL>
                      <a:noFill/>
                    </a:lnL>
                    <a:lnR>
                      <a:noFill/>
                    </a:lnR>
                    <a:lnT>
                      <a:noFill/>
                    </a:lnT>
                    <a:lnB>
                      <a:noFill/>
                    </a:lnB>
                    <a:solidFill>
                      <a:srgbClr val="FFFFFF"/>
                    </a:solidFill>
                  </a:tcPr>
                </a:tc>
                <a:tc>
                  <a:txBody>
                    <a:bodyPr/>
                    <a:lstStyle/>
                    <a:p>
                      <a:pPr>
                        <a:lnSpc>
                          <a:spcPts val="1875"/>
                        </a:lnSpc>
                        <a:buNone/>
                      </a:pPr>
                      <a:r>
                        <a:rPr lang="en-US" sz="1600" b="0">
                          <a:effectLst/>
                          <a:latin typeface="quote-cjk-patch"/>
                        </a:rPr>
                        <a:t>Treats platform as pure content. Spends less. Feels in control but also... empty.</a:t>
                      </a:r>
                    </a:p>
                  </a:txBody>
                  <a:tcPr marL="70801" marR="70801" marT="44251" marB="44251" anchor="ctr">
                    <a:lnL>
                      <a:noFill/>
                    </a:lnL>
                    <a:lnR>
                      <a:noFill/>
                    </a:lnR>
                    <a:lnT>
                      <a:noFill/>
                    </a:lnT>
                    <a:lnB>
                      <a:noFill/>
                    </a:lnB>
                    <a:solidFill>
                      <a:srgbClr val="FFFFFF"/>
                    </a:solidFill>
                  </a:tcPr>
                </a:tc>
                <a:tc>
                  <a:txBody>
                    <a:bodyPr/>
                    <a:lstStyle/>
                    <a:p>
                      <a:pPr>
                        <a:lnSpc>
                          <a:spcPts val="1875"/>
                        </a:lnSpc>
                        <a:buNone/>
                      </a:pPr>
                      <a:r>
                        <a:rPr lang="en-US" sz="1600" b="0" i="1">
                          <a:effectLst/>
                          <a:latin typeface="quote-cjk-patch"/>
                        </a:rPr>
                        <a:t>Transaction-first user</a:t>
                      </a:r>
                      <a:endParaRPr lang="en-US" sz="1600" b="0">
                        <a:effectLst/>
                        <a:latin typeface="quote-cjk-patch"/>
                      </a:endParaRPr>
                    </a:p>
                  </a:txBody>
                  <a:tcPr marL="70801" marR="70801" marT="44251" marB="44251" anchor="ctr">
                    <a:lnL>
                      <a:noFill/>
                    </a:lnL>
                    <a:lnR>
                      <a:noFill/>
                    </a:lnR>
                    <a:lnT>
                      <a:noFill/>
                    </a:lnT>
                    <a:lnB>
                      <a:noFill/>
                    </a:lnB>
                    <a:solidFill>
                      <a:srgbClr val="FFFFFF"/>
                    </a:solidFill>
                  </a:tcPr>
                </a:tc>
                <a:tc>
                  <a:txBody>
                    <a:bodyPr/>
                    <a:lstStyle/>
                    <a:p>
                      <a:pPr>
                        <a:lnSpc>
                          <a:spcPts val="1875"/>
                        </a:lnSpc>
                        <a:buNone/>
                      </a:pPr>
                      <a:r>
                        <a:rPr lang="en-US" sz="1600" b="0">
                          <a:effectLst/>
                          <a:latin typeface="quote-cjk-patch"/>
                        </a:rPr>
                        <a:t>Bounded authenticity without the "authenticity" leaves only transaction.</a:t>
                      </a:r>
                    </a:p>
                  </a:txBody>
                  <a:tcPr marL="70801" marR="53101" marT="44251" marB="44251" anchor="ctr">
                    <a:lnL>
                      <a:noFill/>
                    </a:lnL>
                    <a:lnR>
                      <a:noFill/>
                    </a:lnR>
                    <a:lnT>
                      <a:noFill/>
                    </a:lnT>
                    <a:lnB>
                      <a:noFill/>
                    </a:lnB>
                    <a:solidFill>
                      <a:srgbClr val="FFFFFF"/>
                    </a:solidFill>
                  </a:tcPr>
                </a:tc>
                <a:extLst>
                  <a:ext uri="{0D108BD9-81ED-4DB2-BD59-A6C34878D82A}">
                    <a16:rowId xmlns:a16="http://schemas.microsoft.com/office/drawing/2014/main" val="2579321485"/>
                  </a:ext>
                </a:extLst>
              </a:tr>
              <a:tr h="929829">
                <a:tc>
                  <a:txBody>
                    <a:bodyPr/>
                    <a:lstStyle/>
                    <a:p>
                      <a:pPr>
                        <a:lnSpc>
                          <a:spcPts val="1875"/>
                        </a:lnSpc>
                        <a:buNone/>
                      </a:pPr>
                      <a:r>
                        <a:rPr lang="en-US" sz="1600" b="1">
                          <a:effectLst/>
                          <a:latin typeface="quote-cjk-patch"/>
                        </a:rPr>
                        <a:t>3: The Silent Observer</a:t>
                      </a:r>
                      <a:endParaRPr lang="en-US" sz="1600" b="0">
                        <a:effectLst/>
                        <a:latin typeface="quote-cjk-patch"/>
                      </a:endParaRPr>
                    </a:p>
                  </a:txBody>
                  <a:tcPr marL="53101" marR="70801" marT="44251" marB="44251" anchor="ctr">
                    <a:lnL>
                      <a:noFill/>
                    </a:lnL>
                    <a:lnR>
                      <a:noFill/>
                    </a:lnR>
                    <a:lnT>
                      <a:noFill/>
                    </a:lnT>
                    <a:lnB>
                      <a:noFill/>
                    </a:lnB>
                    <a:solidFill>
                      <a:srgbClr val="FFFFFF"/>
                    </a:solidFill>
                  </a:tcPr>
                </a:tc>
                <a:tc>
                  <a:txBody>
                    <a:bodyPr/>
                    <a:lstStyle/>
                    <a:p>
                      <a:pPr>
                        <a:lnSpc>
                          <a:spcPts val="1875"/>
                        </a:lnSpc>
                        <a:buNone/>
                      </a:pPr>
                      <a:r>
                        <a:rPr lang="en-US" sz="1600" b="0">
                          <a:effectLst/>
                          <a:latin typeface="quote-cjk-patch"/>
                        </a:rPr>
                        <a:t>Lurks indefinitely. Never engages. Receives passive content but no intimacy.</a:t>
                      </a:r>
                    </a:p>
                  </a:txBody>
                  <a:tcPr marL="70801" marR="70801" marT="44251" marB="44251" anchor="ctr">
                    <a:lnL>
                      <a:noFill/>
                    </a:lnL>
                    <a:lnR>
                      <a:noFill/>
                    </a:lnR>
                    <a:lnT>
                      <a:noFill/>
                    </a:lnT>
                    <a:lnB>
                      <a:noFill/>
                    </a:lnB>
                    <a:solidFill>
                      <a:srgbClr val="FFFFFF"/>
                    </a:solidFill>
                  </a:tcPr>
                </a:tc>
                <a:tc>
                  <a:txBody>
                    <a:bodyPr/>
                    <a:lstStyle/>
                    <a:p>
                      <a:pPr>
                        <a:lnSpc>
                          <a:spcPts val="1875"/>
                        </a:lnSpc>
                        <a:buNone/>
                      </a:pPr>
                      <a:r>
                        <a:rPr lang="en-US" sz="1600" b="0" i="1" dirty="0">
                          <a:effectLst/>
                          <a:latin typeface="quote-cjk-patch"/>
                        </a:rPr>
                        <a:t>Content-only user</a:t>
                      </a:r>
                      <a:endParaRPr lang="en-US" sz="1600" b="0" dirty="0">
                        <a:effectLst/>
                        <a:latin typeface="quote-cjk-patch"/>
                      </a:endParaRPr>
                    </a:p>
                  </a:txBody>
                  <a:tcPr marL="70801" marR="70801" marT="44251" marB="44251" anchor="ctr">
                    <a:lnL>
                      <a:noFill/>
                    </a:lnL>
                    <a:lnR>
                      <a:noFill/>
                    </a:lnR>
                    <a:lnT>
                      <a:noFill/>
                    </a:lnT>
                    <a:lnB>
                      <a:noFill/>
                    </a:lnB>
                    <a:solidFill>
                      <a:srgbClr val="FFFFFF"/>
                    </a:solidFill>
                  </a:tcPr>
                </a:tc>
                <a:tc>
                  <a:txBody>
                    <a:bodyPr/>
                    <a:lstStyle/>
                    <a:p>
                      <a:pPr>
                        <a:lnSpc>
                          <a:spcPts val="1875"/>
                        </a:lnSpc>
                        <a:buNone/>
                      </a:pPr>
                      <a:r>
                        <a:rPr lang="en-US" sz="1600" b="0">
                          <a:effectLst/>
                          <a:latin typeface="quote-cjk-patch"/>
                        </a:rPr>
                        <a:t>Practices of intimacy (sharing, knowing) are absent. Connection cannot form.</a:t>
                      </a:r>
                    </a:p>
                  </a:txBody>
                  <a:tcPr marL="70801" marR="53101" marT="44251" marB="44251" anchor="ctr">
                    <a:lnL>
                      <a:noFill/>
                    </a:lnL>
                    <a:lnR>
                      <a:noFill/>
                    </a:lnR>
                    <a:lnT>
                      <a:noFill/>
                    </a:lnT>
                    <a:lnB>
                      <a:noFill/>
                    </a:lnB>
                    <a:solidFill>
                      <a:srgbClr val="FFFFFF"/>
                    </a:solidFill>
                  </a:tcPr>
                </a:tc>
                <a:extLst>
                  <a:ext uri="{0D108BD9-81ED-4DB2-BD59-A6C34878D82A}">
                    <a16:rowId xmlns:a16="http://schemas.microsoft.com/office/drawing/2014/main" val="4105759023"/>
                  </a:ext>
                </a:extLst>
              </a:tr>
              <a:tr h="779816">
                <a:tc>
                  <a:txBody>
                    <a:bodyPr/>
                    <a:lstStyle/>
                    <a:p>
                      <a:pPr>
                        <a:lnSpc>
                          <a:spcPts val="1875"/>
                        </a:lnSpc>
                        <a:buNone/>
                      </a:pPr>
                      <a:r>
                        <a:rPr lang="en-US" sz="1600" b="1">
                          <a:effectLst/>
                          <a:latin typeface="quote-cjk-patch"/>
                        </a:rPr>
                        <a:t>4: The Informed Realist</a:t>
                      </a:r>
                      <a:endParaRPr lang="en-US" sz="1600" b="0">
                        <a:effectLst/>
                        <a:latin typeface="quote-cjk-patch"/>
                      </a:endParaRPr>
                    </a:p>
                  </a:txBody>
                  <a:tcPr marL="53101" marR="70801" marT="44251" marB="44251" anchor="ctr">
                    <a:lnL>
                      <a:noFill/>
                    </a:lnL>
                    <a:lnR>
                      <a:noFill/>
                    </a:lnR>
                    <a:lnT>
                      <a:noFill/>
                    </a:lnT>
                    <a:lnB>
                      <a:noFill/>
                    </a:lnB>
                    <a:solidFill>
                      <a:srgbClr val="FFFFFF"/>
                    </a:solidFill>
                  </a:tcPr>
                </a:tc>
                <a:tc>
                  <a:txBody>
                    <a:bodyPr/>
                    <a:lstStyle/>
                    <a:p>
                      <a:pPr>
                        <a:lnSpc>
                          <a:spcPts val="1875"/>
                        </a:lnSpc>
                        <a:buNone/>
                      </a:pPr>
                      <a:r>
                        <a:rPr lang="en-US" sz="1600" b="0">
                          <a:effectLst/>
                          <a:latin typeface="quote-cjk-patch"/>
                        </a:rPr>
                        <a:t>Accepts disclosure. Continues with clear eyes. Spends sustainably.</a:t>
                      </a:r>
                    </a:p>
                  </a:txBody>
                  <a:tcPr marL="70801" marR="70801" marT="44251" marB="44251" anchor="ctr">
                    <a:lnL>
                      <a:noFill/>
                    </a:lnL>
                    <a:lnR>
                      <a:noFill/>
                    </a:lnR>
                    <a:lnT>
                      <a:noFill/>
                    </a:lnT>
                    <a:lnB>
                      <a:noFill/>
                    </a:lnB>
                    <a:solidFill>
                      <a:srgbClr val="FFFFFF"/>
                    </a:solidFill>
                  </a:tcPr>
                </a:tc>
                <a:tc>
                  <a:txBody>
                    <a:bodyPr/>
                    <a:lstStyle/>
                    <a:p>
                      <a:pPr>
                        <a:lnSpc>
                          <a:spcPts val="1875"/>
                        </a:lnSpc>
                        <a:buNone/>
                      </a:pPr>
                      <a:r>
                        <a:rPr lang="en-US" sz="1600" b="0" i="1">
                          <a:effectLst/>
                          <a:latin typeface="quote-cjk-patch"/>
                        </a:rPr>
                        <a:t>Disclosure-sensitive user</a:t>
                      </a:r>
                      <a:endParaRPr lang="en-US" sz="1600" b="0">
                        <a:effectLst/>
                        <a:latin typeface="quote-cjk-patch"/>
                      </a:endParaRPr>
                    </a:p>
                  </a:txBody>
                  <a:tcPr marL="70801" marR="70801" marT="44251" marB="44251" anchor="ctr">
                    <a:lnL>
                      <a:noFill/>
                    </a:lnL>
                    <a:lnR>
                      <a:noFill/>
                    </a:lnR>
                    <a:lnT>
                      <a:noFill/>
                    </a:lnT>
                    <a:lnB>
                      <a:noFill/>
                    </a:lnB>
                    <a:solidFill>
                      <a:srgbClr val="FFFFFF"/>
                    </a:solidFill>
                  </a:tcPr>
                </a:tc>
                <a:tc>
                  <a:txBody>
                    <a:bodyPr/>
                    <a:lstStyle/>
                    <a:p>
                      <a:pPr>
                        <a:lnSpc>
                          <a:spcPts val="1875"/>
                        </a:lnSpc>
                        <a:buNone/>
                      </a:pPr>
                      <a:r>
                        <a:rPr lang="en-US" sz="1600" b="0" dirty="0">
                          <a:effectLst/>
                          <a:latin typeface="quote-cjk-patch"/>
                        </a:rPr>
                        <a:t>Informed consent allows bounded authenticity to function ethically.</a:t>
                      </a:r>
                    </a:p>
                  </a:txBody>
                  <a:tcPr marL="70801" marR="53101" marT="44251" marB="44251" anchor="ctr">
                    <a:lnL>
                      <a:noFill/>
                    </a:lnL>
                    <a:lnR>
                      <a:noFill/>
                    </a:lnR>
                    <a:lnT>
                      <a:noFill/>
                    </a:lnT>
                    <a:lnB>
                      <a:noFill/>
                    </a:lnB>
                    <a:solidFill>
                      <a:srgbClr val="FFFFFF"/>
                    </a:solidFill>
                  </a:tcPr>
                </a:tc>
                <a:extLst>
                  <a:ext uri="{0D108BD9-81ED-4DB2-BD59-A6C34878D82A}">
                    <a16:rowId xmlns:a16="http://schemas.microsoft.com/office/drawing/2014/main" val="2404290069"/>
                  </a:ext>
                </a:extLst>
              </a:tr>
              <a:tr h="779816">
                <a:tc>
                  <a:txBody>
                    <a:bodyPr/>
                    <a:lstStyle/>
                    <a:p>
                      <a:pPr>
                        <a:lnSpc>
                          <a:spcPts val="1875"/>
                        </a:lnSpc>
                        <a:buNone/>
                      </a:pPr>
                      <a:r>
                        <a:rPr lang="en-US" sz="1600" b="1">
                          <a:effectLst/>
                          <a:latin typeface="quote-cjk-patch"/>
                        </a:rPr>
                        <a:t>5: The Betrayed</a:t>
                      </a:r>
                      <a:endParaRPr lang="en-US" sz="1600" b="0">
                        <a:effectLst/>
                        <a:latin typeface="quote-cjk-patch"/>
                      </a:endParaRPr>
                    </a:p>
                  </a:txBody>
                  <a:tcPr marL="53101" marR="70801" marT="44251" marB="44251" anchor="ctr">
                    <a:lnL>
                      <a:noFill/>
                    </a:lnL>
                    <a:lnR>
                      <a:noFill/>
                    </a:lnR>
                    <a:lnT>
                      <a:noFill/>
                    </a:lnT>
                    <a:lnB>
                      <a:noFill/>
                    </a:lnB>
                    <a:solidFill>
                      <a:srgbClr val="FFFFFF"/>
                    </a:solidFill>
                  </a:tcPr>
                </a:tc>
                <a:tc>
                  <a:txBody>
                    <a:bodyPr/>
                    <a:lstStyle/>
                    <a:p>
                      <a:pPr>
                        <a:lnSpc>
                          <a:spcPts val="1875"/>
                        </a:lnSpc>
                        <a:buNone/>
                      </a:pPr>
                      <a:r>
                        <a:rPr lang="en-US" sz="1600" b="0">
                          <a:effectLst/>
                          <a:latin typeface="quote-cjk-patch"/>
                        </a:rPr>
                        <a:t>Leaves feeling violated. Trusts less in all relationships.</a:t>
                      </a:r>
                    </a:p>
                  </a:txBody>
                  <a:tcPr marL="70801" marR="70801" marT="44251" marB="44251" anchor="ctr">
                    <a:lnL>
                      <a:noFill/>
                    </a:lnL>
                    <a:lnR>
                      <a:noFill/>
                    </a:lnR>
                    <a:lnT>
                      <a:noFill/>
                    </a:lnT>
                    <a:lnB>
                      <a:noFill/>
                    </a:lnB>
                    <a:solidFill>
                      <a:srgbClr val="FFFFFF"/>
                    </a:solidFill>
                  </a:tcPr>
                </a:tc>
                <a:tc>
                  <a:txBody>
                    <a:bodyPr/>
                    <a:lstStyle/>
                    <a:p>
                      <a:pPr>
                        <a:lnSpc>
                          <a:spcPts val="1875"/>
                        </a:lnSpc>
                        <a:buNone/>
                      </a:pPr>
                      <a:r>
                        <a:rPr lang="en-US" sz="1600" b="0" i="1">
                          <a:effectLst/>
                          <a:latin typeface="quote-cjk-patch"/>
                        </a:rPr>
                        <a:t>High-authenticity user</a:t>
                      </a:r>
                      <a:endParaRPr lang="en-US" sz="1600" b="0">
                        <a:effectLst/>
                        <a:latin typeface="quote-cjk-patch"/>
                      </a:endParaRPr>
                    </a:p>
                  </a:txBody>
                  <a:tcPr marL="70801" marR="70801" marT="44251" marB="44251" anchor="ctr">
                    <a:lnL>
                      <a:noFill/>
                    </a:lnL>
                    <a:lnR>
                      <a:noFill/>
                    </a:lnR>
                    <a:lnT>
                      <a:noFill/>
                    </a:lnT>
                    <a:lnB>
                      <a:noFill/>
                    </a:lnB>
                    <a:solidFill>
                      <a:srgbClr val="FFFFFF"/>
                    </a:solidFill>
                  </a:tcPr>
                </a:tc>
                <a:tc>
                  <a:txBody>
                    <a:bodyPr/>
                    <a:lstStyle/>
                    <a:p>
                      <a:pPr>
                        <a:lnSpc>
                          <a:spcPts val="1875"/>
                        </a:lnSpc>
                        <a:buNone/>
                      </a:pPr>
                      <a:r>
                        <a:rPr lang="en-US" sz="1600" b="0" dirty="0">
                          <a:effectLst/>
                          <a:latin typeface="quote-cjk-patch"/>
                        </a:rPr>
                        <a:t>Undisclosed substitution breaks trust beyond the platform.</a:t>
                      </a:r>
                    </a:p>
                  </a:txBody>
                  <a:tcPr marL="70801" marR="53101" marT="44251" marB="44251" anchor="ctr">
                    <a:lnL>
                      <a:noFill/>
                    </a:lnL>
                    <a:lnR>
                      <a:noFill/>
                    </a:lnR>
                    <a:lnT>
                      <a:noFill/>
                    </a:lnT>
                    <a:lnB>
                      <a:noFill/>
                    </a:lnB>
                    <a:solidFill>
                      <a:srgbClr val="FFFFFF"/>
                    </a:solidFill>
                  </a:tcPr>
                </a:tc>
                <a:extLst>
                  <a:ext uri="{0D108BD9-81ED-4DB2-BD59-A6C34878D82A}">
                    <a16:rowId xmlns:a16="http://schemas.microsoft.com/office/drawing/2014/main" val="3142797406"/>
                  </a:ext>
                </a:extLst>
              </a:tr>
              <a:tr h="929829">
                <a:tc>
                  <a:txBody>
                    <a:bodyPr/>
                    <a:lstStyle/>
                    <a:p>
                      <a:pPr>
                        <a:lnSpc>
                          <a:spcPts val="1875"/>
                        </a:lnSpc>
                        <a:buNone/>
                      </a:pPr>
                      <a:r>
                        <a:rPr lang="en-US" sz="1600" b="1">
                          <a:effectLst/>
                          <a:latin typeface="quote-cjk-patch"/>
                        </a:rPr>
                        <a:t>6: The Verification Seeker</a:t>
                      </a:r>
                      <a:endParaRPr lang="en-US" sz="1600" b="0">
                        <a:effectLst/>
                        <a:latin typeface="quote-cjk-patch"/>
                      </a:endParaRPr>
                    </a:p>
                  </a:txBody>
                  <a:tcPr marL="53101" marR="70801" marT="44251" marB="44251" anchor="ctr">
                    <a:lnL>
                      <a:noFill/>
                    </a:lnL>
                    <a:lnR>
                      <a:noFill/>
                    </a:lnR>
                    <a:lnT>
                      <a:noFill/>
                    </a:lnT>
                    <a:lnB>
                      <a:noFill/>
                    </a:lnB>
                    <a:solidFill>
                      <a:srgbClr val="FFFFFF"/>
                    </a:solidFill>
                  </a:tcPr>
                </a:tc>
                <a:tc>
                  <a:txBody>
                    <a:bodyPr/>
                    <a:lstStyle/>
                    <a:p>
                      <a:pPr>
                        <a:lnSpc>
                          <a:spcPts val="1875"/>
                        </a:lnSpc>
                        <a:buNone/>
                      </a:pPr>
                      <a:r>
                        <a:rPr lang="en-US" sz="1600" b="0">
                          <a:effectLst/>
                          <a:latin typeface="quote-cjk-patch"/>
                        </a:rPr>
                        <a:t>Demands proof of realness. May pay more for authenticity. May be disappointed either way.</a:t>
                      </a:r>
                    </a:p>
                  </a:txBody>
                  <a:tcPr marL="70801" marR="70801" marT="44251" marB="44251" anchor="ctr">
                    <a:lnL>
                      <a:noFill/>
                    </a:lnL>
                    <a:lnR>
                      <a:noFill/>
                    </a:lnR>
                    <a:lnT>
                      <a:noFill/>
                    </a:lnT>
                    <a:lnB>
                      <a:noFill/>
                    </a:lnB>
                    <a:solidFill>
                      <a:srgbClr val="FFFFFF"/>
                    </a:solidFill>
                  </a:tcPr>
                </a:tc>
                <a:tc>
                  <a:txBody>
                    <a:bodyPr/>
                    <a:lstStyle/>
                    <a:p>
                      <a:pPr>
                        <a:lnSpc>
                          <a:spcPts val="1875"/>
                        </a:lnSpc>
                        <a:buNone/>
                      </a:pPr>
                      <a:r>
                        <a:rPr lang="en-US" sz="1600" b="0" i="1">
                          <a:effectLst/>
                          <a:latin typeface="quote-cjk-patch"/>
                        </a:rPr>
                        <a:t>Authentity-obsessed user</a:t>
                      </a:r>
                      <a:endParaRPr lang="en-US" sz="1600" b="0">
                        <a:effectLst/>
                        <a:latin typeface="quote-cjk-patch"/>
                      </a:endParaRPr>
                    </a:p>
                  </a:txBody>
                  <a:tcPr marL="70801" marR="70801" marT="44251" marB="44251" anchor="ctr">
                    <a:lnL>
                      <a:noFill/>
                    </a:lnL>
                    <a:lnR>
                      <a:noFill/>
                    </a:lnR>
                    <a:lnT>
                      <a:noFill/>
                    </a:lnT>
                    <a:lnB>
                      <a:noFill/>
                    </a:lnB>
                    <a:solidFill>
                      <a:srgbClr val="FFFFFF"/>
                    </a:solidFill>
                  </a:tcPr>
                </a:tc>
                <a:tc>
                  <a:txBody>
                    <a:bodyPr/>
                    <a:lstStyle/>
                    <a:p>
                      <a:pPr>
                        <a:lnSpc>
                          <a:spcPts val="1875"/>
                        </a:lnSpc>
                        <a:buNone/>
                      </a:pPr>
                      <a:r>
                        <a:rPr lang="en-US" sz="1600" b="0">
                          <a:effectLst/>
                          <a:latin typeface="quote-cjk-patch"/>
                        </a:rPr>
                        <a:t>The demand for "real" reveals how scarce and valuable perceived authenticity is.</a:t>
                      </a:r>
                    </a:p>
                  </a:txBody>
                  <a:tcPr marL="70801" marR="53101" marT="44251" marB="44251" anchor="ctr">
                    <a:lnL>
                      <a:noFill/>
                    </a:lnL>
                    <a:lnR>
                      <a:noFill/>
                    </a:lnR>
                    <a:lnT>
                      <a:noFill/>
                    </a:lnT>
                    <a:lnB>
                      <a:noFill/>
                    </a:lnB>
                    <a:solidFill>
                      <a:srgbClr val="FFFFFF"/>
                    </a:solidFill>
                  </a:tcPr>
                </a:tc>
                <a:extLst>
                  <a:ext uri="{0D108BD9-81ED-4DB2-BD59-A6C34878D82A}">
                    <a16:rowId xmlns:a16="http://schemas.microsoft.com/office/drawing/2014/main" val="3247916299"/>
                  </a:ext>
                </a:extLst>
              </a:tr>
              <a:tr h="779816">
                <a:tc>
                  <a:txBody>
                    <a:bodyPr/>
                    <a:lstStyle/>
                    <a:p>
                      <a:pPr>
                        <a:lnSpc>
                          <a:spcPts val="1875"/>
                        </a:lnSpc>
                        <a:buNone/>
                      </a:pPr>
                      <a:r>
                        <a:rPr lang="en-US" sz="1600" b="1">
                          <a:effectLst/>
                          <a:latin typeface="quote-cjk-patch"/>
                        </a:rPr>
                        <a:t>7: The Happy Ignorant</a:t>
                      </a:r>
                      <a:endParaRPr lang="en-US" sz="1600" b="0">
                        <a:effectLst/>
                        <a:latin typeface="quote-cjk-patch"/>
                      </a:endParaRPr>
                    </a:p>
                  </a:txBody>
                  <a:tcPr marL="53101" marR="70801" marT="44251" marB="44251" anchor="ctr">
                    <a:lnL>
                      <a:noFill/>
                    </a:lnL>
                    <a:lnR>
                      <a:noFill/>
                    </a:lnR>
                    <a:lnT>
                      <a:noFill/>
                    </a:lnT>
                    <a:lnB>
                      <a:noFill/>
                    </a:lnB>
                    <a:solidFill>
                      <a:srgbClr val="FFFFFF"/>
                    </a:solidFill>
                  </a:tcPr>
                </a:tc>
                <a:tc>
                  <a:txBody>
                    <a:bodyPr/>
                    <a:lstStyle/>
                    <a:p>
                      <a:pPr>
                        <a:lnSpc>
                          <a:spcPts val="1875"/>
                        </a:lnSpc>
                        <a:buNone/>
                      </a:pPr>
                      <a:r>
                        <a:rPr lang="en-US" sz="1600" b="0">
                          <a:effectLst/>
                          <a:latin typeface="quote-cjk-patch"/>
                        </a:rPr>
                        <a:t>Knows but chooses not to know. Stays subscribed indefinitely.</a:t>
                      </a:r>
                    </a:p>
                  </a:txBody>
                  <a:tcPr marL="70801" marR="70801" marT="44251" marB="44251" anchor="ctr">
                    <a:lnL>
                      <a:noFill/>
                    </a:lnL>
                    <a:lnR>
                      <a:noFill/>
                    </a:lnR>
                    <a:lnT>
                      <a:noFill/>
                    </a:lnT>
                    <a:lnB>
                      <a:noFill/>
                    </a:lnB>
                    <a:solidFill>
                      <a:srgbClr val="FFFFFF"/>
                    </a:solidFill>
                  </a:tcPr>
                </a:tc>
                <a:tc>
                  <a:txBody>
                    <a:bodyPr/>
                    <a:lstStyle/>
                    <a:p>
                      <a:pPr>
                        <a:lnSpc>
                          <a:spcPts val="1875"/>
                        </a:lnSpc>
                        <a:buNone/>
                      </a:pPr>
                      <a:r>
                        <a:rPr lang="en-US" sz="1600" b="0" i="1">
                          <a:effectLst/>
                          <a:latin typeface="quote-cjk-patch"/>
                        </a:rPr>
                        <a:t>Willful ignorance user</a:t>
                      </a:r>
                      <a:endParaRPr lang="en-US" sz="1600" b="0">
                        <a:effectLst/>
                        <a:latin typeface="quote-cjk-patch"/>
                      </a:endParaRPr>
                    </a:p>
                  </a:txBody>
                  <a:tcPr marL="70801" marR="70801" marT="44251" marB="44251" anchor="ctr">
                    <a:lnL>
                      <a:noFill/>
                    </a:lnL>
                    <a:lnR>
                      <a:noFill/>
                    </a:lnR>
                    <a:lnT>
                      <a:noFill/>
                    </a:lnT>
                    <a:lnB>
                      <a:noFill/>
                    </a:lnB>
                    <a:solidFill>
                      <a:srgbClr val="FFFFFF"/>
                    </a:solidFill>
                  </a:tcPr>
                </a:tc>
                <a:tc>
                  <a:txBody>
                    <a:bodyPr/>
                    <a:lstStyle/>
                    <a:p>
                      <a:pPr>
                        <a:lnSpc>
                          <a:spcPts val="1875"/>
                        </a:lnSpc>
                        <a:buNone/>
                      </a:pPr>
                      <a:r>
                        <a:rPr lang="en-US" sz="1600" b="0" dirty="0">
                          <a:effectLst/>
                          <a:latin typeface="quote-cjk-patch"/>
                        </a:rPr>
                        <a:t>Docile body: Alex's desire has been made docile to platform optimization.</a:t>
                      </a:r>
                    </a:p>
                  </a:txBody>
                  <a:tcPr marL="70801" marR="53101" marT="44251" marB="44251" anchor="ctr">
                    <a:lnL>
                      <a:noFill/>
                    </a:lnL>
                    <a:lnR>
                      <a:noFill/>
                    </a:lnR>
                    <a:lnT>
                      <a:noFill/>
                    </a:lnT>
                    <a:lnB>
                      <a:noFill/>
                    </a:lnB>
                    <a:solidFill>
                      <a:srgbClr val="FFFFFF"/>
                    </a:solidFill>
                  </a:tcPr>
                </a:tc>
                <a:extLst>
                  <a:ext uri="{0D108BD9-81ED-4DB2-BD59-A6C34878D82A}">
                    <a16:rowId xmlns:a16="http://schemas.microsoft.com/office/drawing/2014/main" val="3538251295"/>
                  </a:ext>
                </a:extLst>
              </a:tr>
            </a:tbl>
          </a:graphicData>
        </a:graphic>
      </p:graphicFrame>
    </p:spTree>
    <p:extLst>
      <p:ext uri="{BB962C8B-B14F-4D97-AF65-F5344CB8AC3E}">
        <p14:creationId xmlns:p14="http://schemas.microsoft.com/office/powerpoint/2010/main" val="413055731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1718</Words>
  <Application>Microsoft Office PowerPoint</Application>
  <PresentationFormat>寬螢幕</PresentationFormat>
  <Paragraphs>161</Paragraphs>
  <Slides>19</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19</vt:i4>
      </vt:variant>
    </vt:vector>
  </HeadingPairs>
  <TitlesOfParts>
    <vt:vector size="24" baseType="lpstr">
      <vt:lpstr>quote-cjk-patch</vt:lpstr>
      <vt:lpstr>Aptos</vt:lpstr>
      <vt:lpstr>Aptos Display</vt:lpstr>
      <vt:lpstr>Arial</vt:lpstr>
      <vt:lpstr>Office 佈景主題</vt:lpstr>
      <vt:lpstr>PowerPoint 簡報</vt:lpstr>
      <vt:lpstr>PowerPoint 簡報</vt:lpstr>
      <vt:lpstr>Audience Choice A – What does Alex do? </vt:lpstr>
      <vt:lpstr>Audience Choice A – What does Alex do? </vt:lpstr>
      <vt:lpstr>PowerPoint 簡報</vt:lpstr>
      <vt:lpstr>PowerPoint 簡報</vt:lpstr>
      <vt:lpstr>Audience Choice C – How does Alex respond?</vt:lpstr>
      <vt:lpstr>PowerPoint 簡報</vt:lpstr>
      <vt:lpstr>Audience Choice D – What does Alex do?</vt:lpstr>
      <vt:lpstr>PowerPoint 簡報</vt:lpstr>
      <vt:lpstr>PowerPoint 簡報</vt:lpstr>
      <vt:lpstr>PowerPoint 簡報</vt:lpstr>
      <vt:lpstr>Audience Choice F – What does Alex do?  </vt:lpstr>
      <vt:lpstr>PowerPoint 簡報</vt:lpstr>
      <vt:lpstr>PowerPoint 簡報</vt:lpstr>
      <vt:lpstr>PowerPoint 簡報</vt:lpstr>
      <vt:lpstr>Audience Choice H – Does Alex ever check?</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u3627351@connect.hku.hk</dc:creator>
  <cp:lastModifiedBy>u3627351@connect.hku.hk</cp:lastModifiedBy>
  <cp:revision>1</cp:revision>
  <dcterms:created xsi:type="dcterms:W3CDTF">2026-04-22T04:04:07Z</dcterms:created>
  <dcterms:modified xsi:type="dcterms:W3CDTF">2026-04-22T04:12:38Z</dcterms:modified>
</cp:coreProperties>
</file>